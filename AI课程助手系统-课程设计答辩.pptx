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63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尊敬的各位评委老师，下午好！我们是Learning Engine团队，今天非常荣幸能在这里向大家汇报我们的课程设计项目——AI课程助手系统。这是一个基于大模型API构建的多学科智能学习辅助平台，旨在通过先进的AI技术，为用户提供个性化、高效、便捷的学习支持。接下来，我们将详细介绍项目的开发历程与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五个部分。首先，我们将介绍项目的整体概述与计划。其次，展示项目的实际进度与团队协作情况。接着，我们会重点分享开发过程中遇到的问题及解决方案。然后，详细解读我们的系统架构与实现细节。最后，对项目的测试工作进行总结，并分享团队成员的心得体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项目的核心是“AI课程助手系统”，一个定位为多学科智能学习辅助的平台。我们敏锐地捕捉到大语言模型在教育领域的应用潜力，希望通过技术手段解决传统学习中信息获取效率低、个性化辅导缺失等痛点。系统集成了智能问答、实验报告生成和多模式学习等核心功能，致力于成为学生的智能学习伴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确保项目方向明确，我们设定了清晰的目标体系。总体上，我们追求功能、价值和学习三个层面的目标。具体到功能上，我们聚焦于实现多学科智能问答、实验报告生成和多模式学习这三大核心功能，旨在为用户提供全面的学习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采用分阶段迭代的开发策略，将项目分为四个阶段。第一阶段是启动与规划，完成需求分析和设计。第二阶段是核心开发，实现基础功能。第三阶段是优化增强，提升用户体验。最后是测试与总结阶段，确保项目高质量交付。每个阶段都有明确的任务和可交付成果，确保了项目的有序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接下来，我们将进入第二部分，向各位老师汇报我们项目的实际进度情况以及团队协作模式。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的实际进度曲线和燃尽图。可以看到，进度曲线在中期开发阶段呈现快速上升，而燃尽图则在同期快速下降，这反映了我们团队在核心开发阶段的高效执行力。我们采用敏捷开发理念，通过每日站会和GitHub项目管理工具，确保了团队协作的顺畅和项目进度的透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在项目开发过程中，我们遇到了一系列技术挑战。接下来，我们将分享其中四个关键问题以及我们的解决方案，这也是答辩老师非常关注的部分。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第一个问题是API连接异常，我们通过增加异常处理和实现带有指数退避策略的自动重试机制来解决。第二个问题是编码问题，我们通过强制指定UTF-8编码和标准化JSON处理流程，确保了中文等特殊字符的正确解码。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问题是页面UI过于简单，我们通过引入平台化布局、卡片式设计和现代化样式，将页面从“能用”提升到“好用”。第四个问题是AI回答格式混乱，我们通过设计结构化的Prompt和在后端进行统一的解析格式化，确保了前端展示的一致性和美观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解决了技术难题后，我们来看一下项目的核心——系统架构设计。这是答辩中非常重要的一个部分。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我们的系统采用经典的三层架构，清晰地分离了表现层、业务逻辑层和服务层。前端使用HTML、CSS和JavaScript负责界面展示；后端基于Python和Flask框架处理核心业务逻辑并调用AI接口；AI服务由Moonshot API提供。整个系统流程清晰，从用户输入到最终结果展示，形成了一个完整的闭环。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系统开发完成后，我们进行了全面的测试工作。接下来，我们将介绍测试的内容、工具、结果以及团队成员的心得体会。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对系统进行了全面的测试，包括功能测试、接口测试和异常处理测试。使用了浏览器开发者工具、Postman和Flask调试模式等工具。测试结果表明，系统功能完备、稳定性高、交互流畅，并且能够有效处理各种异常情况。我们认为，系统已完全达到课程设计的要求，并且具有良好的可扩展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我的汇报到此结束。再次感谢各位评委老师的聆听，我们非常乐意回答大家的提问。谢谢！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2.jpe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svg"/><Relationship Id="rId3" Type="http://schemas.openxmlformats.org/officeDocument/2006/relationships/image" Target="../media/image2.jpeg"/><Relationship Id="rId7" Type="http://schemas.openxmlformats.org/officeDocument/2006/relationships/image" Target="../media/image22.jpeg"/><Relationship Id="rId12" Type="http://schemas.openxmlformats.org/officeDocument/2006/relationships/image" Target="../media/image27.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1.jpeg"/><Relationship Id="rId11" Type="http://schemas.openxmlformats.org/officeDocument/2006/relationships/image" Target="../media/image26.svg"/><Relationship Id="rId5" Type="http://schemas.openxmlformats.org/officeDocument/2006/relationships/image" Target="../media/image20.sv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svg"/><Relationship Id="rId14" Type="http://schemas.openxmlformats.org/officeDocument/2006/relationships/image" Target="../media/image29.svg"/></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40000"/>
                </a:srgbClr>
              </a:gs>
              <a:gs pos="100000">
                <a:srgbClr val="000000">
                  <a:alpha val="75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381000" y="2413000"/>
            <a:ext cx="11430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200" b="1" i="0" u="none" strike="noStrike">
                <a:solidFill>
                  <a:srgbClr val="FFFFFF"/>
                </a:solidFill>
                <a:latin typeface="Noto Sans SC"/>
                <a:ea typeface="Noto Sans SC"/>
                <a:cs typeface="Noto Sans SC"/>
                <a:sym typeface="Noto Sans SC"/>
              </a:rPr>
              <a:t>AI课程助手系统</a:t>
            </a:r>
            <a:endParaRPr lang="en-US" sz="1100"/>
          </a:p>
        </p:txBody>
      </p:sp>
      <p:sp>
        <p:nvSpPr>
          <p:cNvPr id="4" name="AutoShape 4"/>
          <p:cNvSpPr/>
          <p:nvPr/>
        </p:nvSpPr>
        <p:spPr>
          <a:xfrm>
            <a:off x="381000" y="4064000"/>
            <a:ext cx="1143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dirty="0" err="1">
                <a:solidFill>
                  <a:srgbClr val="FFFFFF">
                    <a:alpha val="94902"/>
                  </a:srgbClr>
                </a:solidFill>
                <a:latin typeface="Noto Sans SC"/>
                <a:ea typeface="Noto Sans SC"/>
                <a:cs typeface="Noto Sans SC"/>
                <a:sym typeface="Noto Sans SC"/>
              </a:rPr>
              <a:t>软件工程课程设计答辩</a:t>
            </a:r>
            <a:endParaRPr lang="en-US" sz="1100" dirty="0"/>
          </a:p>
        </p:txBody>
      </p:sp>
      <p:sp>
        <p:nvSpPr>
          <p:cNvPr id="5" name="AutoShape 5"/>
          <p:cNvSpPr/>
          <p:nvPr/>
        </p:nvSpPr>
        <p:spPr>
          <a:xfrm>
            <a:off x="381000" y="5461000"/>
            <a:ext cx="1143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600" b="0" i="0" u="none" strike="noStrike" dirty="0">
                <a:solidFill>
                  <a:srgbClr val="FFFFFF">
                    <a:alpha val="85098"/>
                  </a:srgbClr>
                </a:solidFill>
                <a:latin typeface="Noto Sans SC"/>
                <a:ea typeface="Noto Sans SC"/>
                <a:cs typeface="Noto Sans SC"/>
                <a:sym typeface="Noto Sans SC"/>
              </a:rPr>
              <a:t>学习引擎</a:t>
            </a:r>
            <a:r>
              <a:rPr lang="en-US" sz="1600" b="0" i="0" u="none" strike="noStrike" dirty="0">
                <a:solidFill>
                  <a:srgbClr val="FFFFFF">
                    <a:alpha val="85098"/>
                  </a:srgbClr>
                </a:solidFill>
                <a:latin typeface="Noto Sans SC"/>
                <a:ea typeface="Noto Sans SC"/>
                <a:cs typeface="Noto Sans SC"/>
                <a:sym typeface="Noto Sans SC"/>
              </a:rPr>
              <a:t>Learning Engine | 2026年5月</a:t>
            </a:r>
            <a:endParaRPr lang="en-US" sz="1100" dirty="0"/>
          </a:p>
        </p:txBody>
      </p:sp>
      <p:sp>
        <p:nvSpPr>
          <p:cNvPr id="6" name="文本框 5">
            <a:extLst>
              <a:ext uri="{FF2B5EF4-FFF2-40B4-BE49-F238E27FC236}">
                <a16:creationId xmlns:a16="http://schemas.microsoft.com/office/drawing/2014/main" id="{C9F51A56-7824-6896-BA8E-C1AE11F02510}"/>
              </a:ext>
            </a:extLst>
          </p:cNvPr>
          <p:cNvSpPr txBox="1"/>
          <p:nvPr/>
        </p:nvSpPr>
        <p:spPr>
          <a:xfrm>
            <a:off x="4033284" y="4826000"/>
            <a:ext cx="4019107" cy="307777"/>
          </a:xfrm>
          <a:prstGeom prst="rect">
            <a:avLst/>
          </a:prstGeom>
          <a:noFill/>
        </p:spPr>
        <p:txBody>
          <a:bodyPr wrap="square" rtlCol="0">
            <a:spAutoFit/>
          </a:bodyPr>
          <a:lstStyle/>
          <a:p>
            <a:r>
              <a:rPr lang="zh-CN" altLang="en-US" dirty="0">
                <a:solidFill>
                  <a:schemeClr val="bg1"/>
                </a:solidFill>
              </a:rPr>
              <a:t>                            成员：郑瑞元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428">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508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目 录</a:t>
            </a:r>
            <a:endParaRPr lang="en-US" sz="1100"/>
          </a:p>
        </p:txBody>
      </p:sp>
      <p:sp>
        <p:nvSpPr>
          <p:cNvPr id="4" name="AutoShape 4"/>
          <p:cNvSpPr/>
          <p:nvPr/>
        </p:nvSpPr>
        <p:spPr>
          <a:xfrm>
            <a:off x="762000" y="1651000"/>
            <a:ext cx="3429000" cy="1968500"/>
          </a:xfrm>
          <a:prstGeom prst="roundRect">
            <a:avLst>
              <a:gd name="adj" fmla="val 0"/>
            </a:avLst>
          </a:prstGeom>
          <a:solidFill>
            <a:srgbClr val="FFFFFF">
              <a:alpha val="8000"/>
            </a:srgbClr>
          </a:solidFill>
          <a:ln w="12700" cap="flat" cmpd="sng">
            <a:solidFill>
              <a:srgbClr val="4A90E2">
                <a:alpha val="3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3429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778000"/>
            <a:ext cx="889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4A90E2">
                    <a:alpha val="60000"/>
                  </a:srgbClr>
                </a:solidFill>
                <a:latin typeface="Noto Sans SC"/>
                <a:ea typeface="Noto Sans SC"/>
                <a:cs typeface="Noto Sans SC"/>
                <a:sym typeface="Noto Sans SC"/>
              </a:rPr>
              <a:t>01</a:t>
            </a:r>
            <a:endParaRPr lang="en-US" sz="1100"/>
          </a:p>
        </p:txBody>
      </p:sp>
      <p:sp>
        <p:nvSpPr>
          <p:cNvPr id="7" name="AutoShape 7"/>
          <p:cNvSpPr/>
          <p:nvPr/>
        </p:nvSpPr>
        <p:spPr>
          <a:xfrm>
            <a:off x="1905000" y="1803400"/>
            <a:ext cx="2159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项目概述与计划</a:t>
            </a:r>
            <a:endParaRPr lang="en-US" sz="1100"/>
          </a:p>
        </p:txBody>
      </p:sp>
      <p:sp>
        <p:nvSpPr>
          <p:cNvPr id="8" name="AutoShape 8"/>
          <p:cNvSpPr/>
          <p:nvPr/>
        </p:nvSpPr>
        <p:spPr>
          <a:xfrm>
            <a:off x="889000" y="2667000"/>
            <a:ext cx="3175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C8DCF5">
                    <a:alpha val="90196"/>
                  </a:srgbClr>
                </a:solidFill>
                <a:latin typeface="Noto Sans SC"/>
                <a:ea typeface="Noto Sans SC"/>
                <a:cs typeface="Noto Sans SC"/>
                <a:sym typeface="Noto Sans SC"/>
              </a:rPr>
              <a:t>明确项目建设的核心背景与业务目标，制定分阶段的执行规划与关键里程碑，为项目的顺利启动与推进奠定方向基础。</a:t>
            </a:r>
            <a:endParaRPr lang="en-US" sz="1100"/>
          </a:p>
        </p:txBody>
      </p:sp>
      <p:sp>
        <p:nvSpPr>
          <p:cNvPr id="9" name="AutoShape 9"/>
          <p:cNvSpPr/>
          <p:nvPr/>
        </p:nvSpPr>
        <p:spPr>
          <a:xfrm>
            <a:off x="4445000" y="1651000"/>
            <a:ext cx="3429000" cy="1968500"/>
          </a:xfrm>
          <a:prstGeom prst="roundRect">
            <a:avLst>
              <a:gd name="adj" fmla="val 0"/>
            </a:avLst>
          </a:prstGeom>
          <a:solidFill>
            <a:srgbClr val="FFFFFF">
              <a:alpha val="8000"/>
            </a:srgbClr>
          </a:solidFill>
          <a:ln w="12700" cap="flat" cmpd="sng">
            <a:solidFill>
              <a:srgbClr val="4A90E2">
                <a:alpha val="35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445000" y="1651000"/>
            <a:ext cx="3429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572000" y="1778000"/>
            <a:ext cx="889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4A90E2">
                    <a:alpha val="60000"/>
                  </a:srgbClr>
                </a:solidFill>
                <a:latin typeface="Noto Sans SC"/>
                <a:ea typeface="Noto Sans SC"/>
                <a:cs typeface="Noto Sans SC"/>
                <a:sym typeface="Noto Sans SC"/>
              </a:rPr>
              <a:t>02</a:t>
            </a:r>
            <a:endParaRPr lang="en-US" sz="1100"/>
          </a:p>
        </p:txBody>
      </p:sp>
      <p:sp>
        <p:nvSpPr>
          <p:cNvPr id="12" name="AutoShape 12"/>
          <p:cNvSpPr/>
          <p:nvPr/>
        </p:nvSpPr>
        <p:spPr>
          <a:xfrm>
            <a:off x="5588000" y="1803400"/>
            <a:ext cx="2159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项目进度与协作</a:t>
            </a:r>
            <a:endParaRPr lang="en-US" sz="1100"/>
          </a:p>
        </p:txBody>
      </p:sp>
      <p:sp>
        <p:nvSpPr>
          <p:cNvPr id="13" name="AutoShape 13"/>
          <p:cNvSpPr/>
          <p:nvPr/>
        </p:nvSpPr>
        <p:spPr>
          <a:xfrm>
            <a:off x="4572000" y="2667000"/>
            <a:ext cx="3175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C8DCF5">
                    <a:alpha val="90196"/>
                  </a:srgbClr>
                </a:solidFill>
                <a:latin typeface="Noto Sans SC"/>
                <a:ea typeface="Noto Sans SC"/>
                <a:cs typeface="Noto Sans SC"/>
                <a:sym typeface="Noto Sans SC"/>
              </a:rPr>
              <a:t>基于实际开发数据复盘进度达成情况，通过燃尽图直观呈现迭代效率，并解析团队在开发周期中的高效协作流程与沟通机制。</a:t>
            </a:r>
            <a:endParaRPr lang="en-US" sz="1100"/>
          </a:p>
        </p:txBody>
      </p:sp>
      <p:sp>
        <p:nvSpPr>
          <p:cNvPr id="14" name="AutoShape 14"/>
          <p:cNvSpPr/>
          <p:nvPr/>
        </p:nvSpPr>
        <p:spPr>
          <a:xfrm>
            <a:off x="8128000" y="1651000"/>
            <a:ext cx="3429000" cy="1968500"/>
          </a:xfrm>
          <a:prstGeom prst="roundRect">
            <a:avLst>
              <a:gd name="adj" fmla="val 0"/>
            </a:avLst>
          </a:prstGeom>
          <a:solidFill>
            <a:srgbClr val="FFFFFF">
              <a:alpha val="8000"/>
            </a:srgbClr>
          </a:solidFill>
          <a:ln w="12700" cap="flat" cmpd="sng">
            <a:solidFill>
              <a:srgbClr val="4A90E2">
                <a:alpha val="35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128000" y="1651000"/>
            <a:ext cx="3429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255000" y="1778000"/>
            <a:ext cx="889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4A90E2">
                    <a:alpha val="60000"/>
                  </a:srgbClr>
                </a:solidFill>
                <a:latin typeface="Noto Sans SC"/>
                <a:ea typeface="Noto Sans SC"/>
                <a:cs typeface="Noto Sans SC"/>
                <a:sym typeface="Noto Sans SC"/>
              </a:rPr>
              <a:t>03</a:t>
            </a:r>
            <a:endParaRPr lang="en-US" sz="1100"/>
          </a:p>
        </p:txBody>
      </p:sp>
      <p:sp>
        <p:nvSpPr>
          <p:cNvPr id="17" name="AutoShape 17"/>
          <p:cNvSpPr/>
          <p:nvPr/>
        </p:nvSpPr>
        <p:spPr>
          <a:xfrm>
            <a:off x="9271000" y="1803400"/>
            <a:ext cx="2159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问题与解决方案</a:t>
            </a:r>
            <a:endParaRPr lang="en-US" sz="1100"/>
          </a:p>
        </p:txBody>
      </p:sp>
      <p:sp>
        <p:nvSpPr>
          <p:cNvPr id="18" name="AutoShape 18"/>
          <p:cNvSpPr/>
          <p:nvPr/>
        </p:nvSpPr>
        <p:spPr>
          <a:xfrm>
            <a:off x="8255000" y="2667000"/>
            <a:ext cx="3175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C8DCF5">
                    <a:alpha val="90196"/>
                  </a:srgbClr>
                </a:solidFill>
                <a:latin typeface="Noto Sans SC"/>
                <a:ea typeface="Noto Sans SC"/>
                <a:cs typeface="Noto Sans SC"/>
                <a:sym typeface="Noto Sans SC"/>
              </a:rPr>
              <a:t>深度剖析开发过程中遇到的关键技术瓶颈与业务挑战，详细阐述技术攻关的思路，展示最终落地的解决方案及其实施效果。</a:t>
            </a:r>
            <a:endParaRPr lang="en-US" sz="1100"/>
          </a:p>
        </p:txBody>
      </p:sp>
      <p:sp>
        <p:nvSpPr>
          <p:cNvPr id="19" name="AutoShape 19"/>
          <p:cNvSpPr/>
          <p:nvPr/>
        </p:nvSpPr>
        <p:spPr>
          <a:xfrm>
            <a:off x="762000" y="3937000"/>
            <a:ext cx="5207000" cy="1968500"/>
          </a:xfrm>
          <a:prstGeom prst="roundRect">
            <a:avLst>
              <a:gd name="adj" fmla="val 0"/>
            </a:avLst>
          </a:prstGeom>
          <a:solidFill>
            <a:srgbClr val="FFFFFF">
              <a:alpha val="8000"/>
            </a:srgbClr>
          </a:solidFill>
          <a:ln w="12700" cap="flat" cmpd="sng">
            <a:solidFill>
              <a:srgbClr val="4A90E2">
                <a:alpha val="35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3937000"/>
            <a:ext cx="5207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89000" y="4064000"/>
            <a:ext cx="1016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4A90E2">
                    <a:alpha val="60000"/>
                  </a:srgbClr>
                </a:solidFill>
                <a:latin typeface="Noto Sans SC"/>
                <a:ea typeface="Noto Sans SC"/>
                <a:cs typeface="Noto Sans SC"/>
                <a:sym typeface="Noto Sans SC"/>
              </a:rPr>
              <a:t>04</a:t>
            </a:r>
            <a:endParaRPr lang="en-US" sz="1100"/>
          </a:p>
        </p:txBody>
      </p:sp>
      <p:sp>
        <p:nvSpPr>
          <p:cNvPr id="22" name="AutoShape 22"/>
          <p:cNvSpPr/>
          <p:nvPr/>
        </p:nvSpPr>
        <p:spPr>
          <a:xfrm>
            <a:off x="2032000" y="4127500"/>
            <a:ext cx="368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系统架构与实现</a:t>
            </a:r>
            <a:endParaRPr lang="en-US" sz="1100"/>
          </a:p>
        </p:txBody>
      </p:sp>
      <p:sp>
        <p:nvSpPr>
          <p:cNvPr id="23" name="AutoShape 23"/>
          <p:cNvSpPr/>
          <p:nvPr/>
        </p:nvSpPr>
        <p:spPr>
          <a:xfrm>
            <a:off x="889000" y="4953000"/>
            <a:ext cx="4953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C8DCF5">
                    <a:alpha val="90196"/>
                  </a:srgbClr>
                </a:solidFill>
                <a:latin typeface="Noto Sans SC"/>
                <a:ea typeface="Noto Sans SC"/>
                <a:cs typeface="Noto Sans SC"/>
                <a:sym typeface="Noto Sans SC"/>
              </a:rPr>
              <a:t>全景展示系统前后端技术架构设计，拆解核心业务模块的逻辑实现与数据流转，梳理从接口定义到功能落地的完整技术链路，呈现系统的可扩展性与稳定性设计。</a:t>
            </a:r>
            <a:endParaRPr lang="en-US" sz="1100"/>
          </a:p>
        </p:txBody>
      </p:sp>
      <p:sp>
        <p:nvSpPr>
          <p:cNvPr id="24" name="AutoShape 24"/>
          <p:cNvSpPr/>
          <p:nvPr/>
        </p:nvSpPr>
        <p:spPr>
          <a:xfrm>
            <a:off x="6223000" y="3937000"/>
            <a:ext cx="5334000" cy="1968500"/>
          </a:xfrm>
          <a:prstGeom prst="roundRect">
            <a:avLst>
              <a:gd name="adj" fmla="val 0"/>
            </a:avLst>
          </a:prstGeom>
          <a:solidFill>
            <a:srgbClr val="FFFFFF">
              <a:alpha val="8000"/>
            </a:srgbClr>
          </a:solidFill>
          <a:ln w="12700" cap="flat" cmpd="sng">
            <a:solidFill>
              <a:srgbClr val="4A90E2">
                <a:alpha val="35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223000" y="3937000"/>
            <a:ext cx="5334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350000" y="4064000"/>
            <a:ext cx="1016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4A90E2">
                    <a:alpha val="60000"/>
                  </a:srgbClr>
                </a:solidFill>
                <a:latin typeface="Noto Sans SC"/>
                <a:ea typeface="Noto Sans SC"/>
                <a:cs typeface="Noto Sans SC"/>
                <a:sym typeface="Noto Sans SC"/>
              </a:rPr>
              <a:t>05</a:t>
            </a:r>
            <a:endParaRPr lang="en-US" sz="1100"/>
          </a:p>
        </p:txBody>
      </p:sp>
      <p:sp>
        <p:nvSpPr>
          <p:cNvPr id="27" name="AutoShape 27"/>
          <p:cNvSpPr/>
          <p:nvPr/>
        </p:nvSpPr>
        <p:spPr>
          <a:xfrm>
            <a:off x="7493000" y="41275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测试工作与总结</a:t>
            </a:r>
            <a:endParaRPr lang="en-US" sz="1100"/>
          </a:p>
        </p:txBody>
      </p:sp>
      <p:sp>
        <p:nvSpPr>
          <p:cNvPr id="28" name="AutoShape 28"/>
          <p:cNvSpPr/>
          <p:nvPr/>
        </p:nvSpPr>
        <p:spPr>
          <a:xfrm>
            <a:off x="6350000" y="4953000"/>
            <a:ext cx="5080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C8DCF5">
                    <a:alpha val="90196"/>
                  </a:srgbClr>
                </a:solidFill>
                <a:latin typeface="Noto Sans SC"/>
                <a:ea typeface="Noto Sans SC"/>
                <a:cs typeface="Noto Sans SC"/>
                <a:sym typeface="Noto Sans SC"/>
              </a:rPr>
              <a:t>回顾全流程的测试执行方案，包括功能、性能与兼容性测试的核心要点。呈现最终测试质量报告，并分享团队在项目实战中的成长感悟与可复用的宝贵经验。</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223">
              <a:alpha val="5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01 项目概述与计划</a:t>
            </a:r>
            <a:endParaRPr lang="en-US" sz="1100"/>
          </a:p>
        </p:txBody>
      </p:sp>
      <p:sp>
        <p:nvSpPr>
          <p:cNvPr id="4" name="AutoShape 4"/>
          <p:cNvSpPr/>
          <p:nvPr/>
        </p:nvSpPr>
        <p:spPr>
          <a:xfrm>
            <a:off x="762000" y="1524000"/>
            <a:ext cx="10668000" cy="1333500"/>
          </a:xfrm>
          <a:prstGeom prst="roundRect">
            <a:avLst>
              <a:gd name="adj" fmla="val 0"/>
            </a:avLst>
          </a:prstGeom>
          <a:solidFill>
            <a:srgbClr val="14233C">
              <a:alpha val="88000"/>
            </a:srgbClr>
          </a:solidFill>
          <a:ln w="12700" cap="flat" cmpd="sng">
            <a:solidFill>
              <a:srgbClr val="4A90E2">
                <a:alpha val="4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676400"/>
            <a:ext cx="317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a:ea typeface="Noto Sans SC"/>
                <a:cs typeface="Noto Sans SC"/>
                <a:sym typeface="Noto Sans SC"/>
              </a:rPr>
              <a:t>项目名称</a:t>
            </a:r>
            <a:endParaRPr lang="en-US" sz="1100"/>
          </a:p>
        </p:txBody>
      </p:sp>
      <p:sp>
        <p:nvSpPr>
          <p:cNvPr id="6" name="AutoShape 6"/>
          <p:cNvSpPr/>
          <p:nvPr/>
        </p:nvSpPr>
        <p:spPr>
          <a:xfrm>
            <a:off x="952500" y="2057400"/>
            <a:ext cx="3175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EBEEF5"/>
                </a:solidFill>
                <a:latin typeface="Noto Sans SC"/>
                <a:ea typeface="Noto Sans SC"/>
                <a:cs typeface="Noto Sans SC"/>
                <a:sym typeface="Noto Sans SC"/>
              </a:rPr>
              <a:t>AI课程助手系统</a:t>
            </a:r>
            <a:endParaRPr lang="en-US" sz="1100"/>
          </a:p>
        </p:txBody>
      </p:sp>
      <p:cxnSp>
        <p:nvCxnSpPr>
          <p:cNvPr id="7" name="Connector 7"/>
          <p:cNvCxnSpPr/>
          <p:nvPr/>
        </p:nvCxnSpPr>
        <p:spPr>
          <a:xfrm rot="5350892">
            <a:off x="3810000" y="2152695"/>
            <a:ext cx="88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4381500" y="1676400"/>
            <a:ext cx="317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a:ea typeface="Noto Sans SC"/>
                <a:cs typeface="Noto Sans SC"/>
                <a:sym typeface="Noto Sans SC"/>
              </a:rPr>
              <a:t>研发团队</a:t>
            </a:r>
            <a:endParaRPr lang="en-US" sz="1100"/>
          </a:p>
        </p:txBody>
      </p:sp>
      <p:sp>
        <p:nvSpPr>
          <p:cNvPr id="9" name="AutoShape 9"/>
          <p:cNvSpPr/>
          <p:nvPr/>
        </p:nvSpPr>
        <p:spPr>
          <a:xfrm>
            <a:off x="4381500" y="2057400"/>
            <a:ext cx="3175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zh-CN" altLang="en-US" sz="1400" b="0" i="0" u="none" strike="noStrike" dirty="0">
                <a:solidFill>
                  <a:srgbClr val="EBEEF5"/>
                </a:solidFill>
                <a:latin typeface="Noto Sans SC"/>
                <a:ea typeface="Noto Sans SC"/>
                <a:cs typeface="Noto Sans SC"/>
                <a:sym typeface="Noto Sans SC"/>
              </a:rPr>
              <a:t>学习引擎</a:t>
            </a:r>
            <a:r>
              <a:rPr lang="en-US" altLang="zh-CN" sz="1400" b="0" i="0" u="none" strike="noStrike" dirty="0">
                <a:solidFill>
                  <a:srgbClr val="EBEEF5"/>
                </a:solidFill>
                <a:latin typeface="Noto Sans SC"/>
                <a:ea typeface="Noto Sans SC"/>
                <a:cs typeface="Noto Sans SC"/>
                <a:sym typeface="Noto Sans SC"/>
              </a:rPr>
              <a:t>——</a:t>
            </a:r>
            <a:r>
              <a:rPr lang="en-US" sz="1400" b="0" i="0" u="none" strike="noStrike" dirty="0">
                <a:solidFill>
                  <a:srgbClr val="EBEEF5"/>
                </a:solidFill>
                <a:latin typeface="Noto Sans SC"/>
                <a:ea typeface="Noto Sans SC"/>
                <a:cs typeface="Noto Sans SC"/>
                <a:sym typeface="Noto Sans SC"/>
              </a:rPr>
              <a:t>Learning Engine </a:t>
            </a:r>
            <a:endParaRPr lang="en-US" sz="1100" dirty="0"/>
          </a:p>
        </p:txBody>
      </p:sp>
      <p:cxnSp>
        <p:nvCxnSpPr>
          <p:cNvPr id="10" name="Connector 10"/>
          <p:cNvCxnSpPr/>
          <p:nvPr/>
        </p:nvCxnSpPr>
        <p:spPr>
          <a:xfrm rot="5350892">
            <a:off x="7239000" y="2152695"/>
            <a:ext cx="889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1" name="AutoShape 11"/>
          <p:cNvSpPr/>
          <p:nvPr/>
        </p:nvSpPr>
        <p:spPr>
          <a:xfrm>
            <a:off x="7810500" y="1676400"/>
            <a:ext cx="3429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A90E2"/>
                </a:solidFill>
                <a:latin typeface="Noto Sans SC"/>
                <a:ea typeface="Noto Sans SC"/>
                <a:cs typeface="Noto Sans SC"/>
                <a:sym typeface="Noto Sans SC"/>
              </a:rPr>
              <a:t>核心定位</a:t>
            </a:r>
            <a:endParaRPr lang="en-US" sz="1100"/>
          </a:p>
        </p:txBody>
      </p:sp>
      <p:sp>
        <p:nvSpPr>
          <p:cNvPr id="12" name="AutoShape 12"/>
          <p:cNvSpPr/>
          <p:nvPr/>
        </p:nvSpPr>
        <p:spPr>
          <a:xfrm>
            <a:off x="7810500" y="2057400"/>
            <a:ext cx="3556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EBEEF5"/>
                </a:solidFill>
                <a:latin typeface="Noto Sans SC"/>
                <a:ea typeface="Noto Sans SC"/>
                <a:cs typeface="Noto Sans SC"/>
                <a:sym typeface="Noto Sans SC"/>
              </a:rPr>
              <a:t>基于大模型API的多学科智能学习辅助平台</a:t>
            </a:r>
            <a:endParaRPr lang="en-US" sz="1100"/>
          </a:p>
        </p:txBody>
      </p:sp>
      <p:sp>
        <p:nvSpPr>
          <p:cNvPr id="13" name="AutoShape 13"/>
          <p:cNvSpPr/>
          <p:nvPr/>
        </p:nvSpPr>
        <p:spPr>
          <a:xfrm>
            <a:off x="762000" y="3048000"/>
            <a:ext cx="10668000" cy="1206500"/>
          </a:xfrm>
          <a:prstGeom prst="roundRect">
            <a:avLst>
              <a:gd name="adj" fmla="val 0"/>
            </a:avLst>
          </a:prstGeom>
          <a:solidFill>
            <a:srgbClr val="14233C">
              <a:alpha val="88000"/>
            </a:srgbClr>
          </a:solidFill>
          <a:ln w="12700" cap="flat" cmpd="sng">
            <a:solidFill>
              <a:srgbClr val="4A90E2">
                <a:alpha val="45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52500" y="3149600"/>
            <a:ext cx="10287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1E6F0"/>
                </a:solidFill>
                <a:latin typeface="Noto Sans SC"/>
                <a:ea typeface="Noto Sans SC"/>
                <a:cs typeface="Noto Sans SC"/>
                <a:sym typeface="Noto Sans SC"/>
              </a:rPr>
              <a:t>在人工智能与大语言模型飞速迭代的时代，我们致力于打破传统教育的效率瓶颈。通过将前沿LLM技术与学科教育深度融合，打造一款能切实理解学习场景、辅助知识构建的智能工具。愿景是让每个学习者都能拥有一位全天候、专业化的AI学习伙伴，以技术驱动教育资源的个性化与普惠化，重塑高效的自主学习体验。</a:t>
            </a:r>
            <a:endParaRPr lang="en-US" sz="1100"/>
          </a:p>
        </p:txBody>
      </p:sp>
      <p:sp>
        <p:nvSpPr>
          <p:cNvPr id="15" name="AutoShape 15"/>
          <p:cNvSpPr/>
          <p:nvPr/>
        </p:nvSpPr>
        <p:spPr>
          <a:xfrm>
            <a:off x="762000" y="4445000"/>
            <a:ext cx="3429000" cy="1968500"/>
          </a:xfrm>
          <a:prstGeom prst="roundRect">
            <a:avLst>
              <a:gd name="adj" fmla="val 0"/>
            </a:avLst>
          </a:prstGeom>
          <a:solidFill>
            <a:srgbClr val="1C2D4B">
              <a:alpha val="9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62000" y="4445000"/>
            <a:ext cx="3429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635500"/>
            <a:ext cx="304800" cy="304800"/>
          </a:xfrm>
          <a:prstGeom prst="rect">
            <a:avLst/>
          </a:prstGeom>
        </p:spPr>
      </p:pic>
      <p:sp>
        <p:nvSpPr>
          <p:cNvPr id="18" name="AutoShape 18"/>
          <p:cNvSpPr/>
          <p:nvPr/>
        </p:nvSpPr>
        <p:spPr>
          <a:xfrm>
            <a:off x="1397000" y="4622800"/>
            <a:ext cx="266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智能问答引擎</a:t>
            </a:r>
            <a:endParaRPr lang="en-US" sz="1100"/>
          </a:p>
        </p:txBody>
      </p:sp>
      <p:sp>
        <p:nvSpPr>
          <p:cNvPr id="19" name="AutoShape 19"/>
          <p:cNvSpPr/>
          <p:nvPr/>
        </p:nvSpPr>
        <p:spPr>
          <a:xfrm>
            <a:off x="952500" y="5143500"/>
            <a:ext cx="31115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C3CDDC"/>
                </a:solidFill>
                <a:latin typeface="Noto Sans SC"/>
                <a:ea typeface="Noto Sans SC"/>
                <a:cs typeface="Noto Sans SC"/>
                <a:sym typeface="Noto Sans SC"/>
              </a:rPr>
              <a:t>依托大模型的理解与推理能力，针对数理化、编程等多学科问题提供精准且有深度的解答。支持自然语言交互，实时响应学习疑惑，是学生探索知识时的即时解惑专家。</a:t>
            </a:r>
            <a:endParaRPr lang="en-US" sz="1100"/>
          </a:p>
        </p:txBody>
      </p:sp>
      <p:sp>
        <p:nvSpPr>
          <p:cNvPr id="20" name="AutoShape 20"/>
          <p:cNvSpPr/>
          <p:nvPr/>
        </p:nvSpPr>
        <p:spPr>
          <a:xfrm>
            <a:off x="4381500" y="4445000"/>
            <a:ext cx="3429000" cy="1968500"/>
          </a:xfrm>
          <a:prstGeom prst="roundRect">
            <a:avLst>
              <a:gd name="adj" fmla="val 0"/>
            </a:avLst>
          </a:prstGeom>
          <a:solidFill>
            <a:srgbClr val="1C2D4B">
              <a:alpha val="9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4381500" y="4445000"/>
            <a:ext cx="3429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4635500"/>
            <a:ext cx="304800" cy="304800"/>
          </a:xfrm>
          <a:prstGeom prst="rect">
            <a:avLst/>
          </a:prstGeom>
        </p:spPr>
      </p:pic>
      <p:sp>
        <p:nvSpPr>
          <p:cNvPr id="23" name="AutoShape 23"/>
          <p:cNvSpPr/>
          <p:nvPr/>
        </p:nvSpPr>
        <p:spPr>
          <a:xfrm>
            <a:off x="5016500" y="4622800"/>
            <a:ext cx="266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实验报告智构</a:t>
            </a:r>
            <a:endParaRPr lang="en-US" sz="1100"/>
          </a:p>
        </p:txBody>
      </p:sp>
      <p:sp>
        <p:nvSpPr>
          <p:cNvPr id="24" name="AutoShape 24"/>
          <p:cNvSpPr/>
          <p:nvPr/>
        </p:nvSpPr>
        <p:spPr>
          <a:xfrm>
            <a:off x="4572000" y="5143500"/>
            <a:ext cx="31115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C3CDDC"/>
                </a:solidFill>
                <a:latin typeface="Noto Sans SC"/>
                <a:ea typeface="Noto Sans SC"/>
                <a:cs typeface="Noto Sans SC"/>
                <a:sym typeface="Noto Sans SC"/>
              </a:rPr>
              <a:t>输入实验目的、过程数据与关键结论，系统自动生成符合学术规范的报告初稿。支持格式自定义与内容润色，将学生从繁琐的文档整理中解放，专注于实验本身的探究与分析。</a:t>
            </a:r>
            <a:endParaRPr lang="en-US" sz="1100"/>
          </a:p>
        </p:txBody>
      </p:sp>
      <p:sp>
        <p:nvSpPr>
          <p:cNvPr id="25" name="AutoShape 25"/>
          <p:cNvSpPr/>
          <p:nvPr/>
        </p:nvSpPr>
        <p:spPr>
          <a:xfrm>
            <a:off x="8001000" y="4445000"/>
            <a:ext cx="3429000" cy="1968500"/>
          </a:xfrm>
          <a:prstGeom prst="roundRect">
            <a:avLst>
              <a:gd name="adj" fmla="val 0"/>
            </a:avLst>
          </a:prstGeom>
          <a:solidFill>
            <a:srgbClr val="1C2D4B">
              <a:alpha val="9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001000" y="4445000"/>
            <a:ext cx="3429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4635500"/>
            <a:ext cx="304800" cy="304800"/>
          </a:xfrm>
          <a:prstGeom prst="rect">
            <a:avLst/>
          </a:prstGeom>
        </p:spPr>
      </p:pic>
      <p:sp>
        <p:nvSpPr>
          <p:cNvPr id="28" name="AutoShape 28"/>
          <p:cNvSpPr/>
          <p:nvPr/>
        </p:nvSpPr>
        <p:spPr>
          <a:xfrm>
            <a:off x="8636000" y="4622800"/>
            <a:ext cx="266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多维学习支持</a:t>
            </a:r>
            <a:endParaRPr lang="en-US" sz="1100"/>
          </a:p>
        </p:txBody>
      </p:sp>
      <p:sp>
        <p:nvSpPr>
          <p:cNvPr id="29" name="AutoShape 29"/>
          <p:cNvSpPr/>
          <p:nvPr/>
        </p:nvSpPr>
        <p:spPr>
          <a:xfrm>
            <a:off x="8191500" y="5143500"/>
            <a:ext cx="31115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C3CDDC"/>
                </a:solidFill>
                <a:latin typeface="Noto Sans SC"/>
                <a:ea typeface="Noto Sans SC"/>
                <a:cs typeface="Noto Sans SC"/>
                <a:sym typeface="Noto Sans SC"/>
              </a:rPr>
              <a:t>提供概念深度解析、核心考点总结与动态练习题生成的一站式服务。根据学习进度自适应推送内容，覆盖课前预习、课中理解到课后巩固的全学习周期，实现个性化知识强化。</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889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01 项目概述与计划</a:t>
            </a:r>
            <a:endParaRPr lang="en-US" sz="1100"/>
          </a:p>
        </p:txBody>
      </p:sp>
      <p:sp>
        <p:nvSpPr>
          <p:cNvPr id="4" name="AutoShape 4"/>
          <p:cNvSpPr/>
          <p:nvPr/>
        </p:nvSpPr>
        <p:spPr>
          <a:xfrm>
            <a:off x="762000" y="1651000"/>
            <a:ext cx="3492500" cy="2095500"/>
          </a:xfrm>
          <a:prstGeom prst="roundRect">
            <a:avLst>
              <a:gd name="adj" fmla="val 0"/>
            </a:avLst>
          </a:prstGeom>
          <a:solidFill>
            <a:srgbClr val="0F1E3C">
              <a:alpha val="85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3492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841500"/>
            <a:ext cx="304800" cy="304800"/>
          </a:xfrm>
          <a:prstGeom prst="rect">
            <a:avLst/>
          </a:prstGeom>
        </p:spPr>
      </p:pic>
      <p:sp>
        <p:nvSpPr>
          <p:cNvPr id="7" name="AutoShape 7"/>
          <p:cNvSpPr/>
          <p:nvPr/>
        </p:nvSpPr>
        <p:spPr>
          <a:xfrm>
            <a:off x="1397000" y="18034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核心目标</a:t>
            </a:r>
            <a:endParaRPr lang="en-US" sz="1100"/>
          </a:p>
        </p:txBody>
      </p:sp>
      <p:sp>
        <p:nvSpPr>
          <p:cNvPr id="8" name="AutoShape 8"/>
          <p:cNvSpPr/>
          <p:nvPr/>
        </p:nvSpPr>
        <p:spPr>
          <a:xfrm>
            <a:off x="952500" y="2349500"/>
            <a:ext cx="3111500" cy="1206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DCE1EB"/>
                </a:solidFill>
                <a:latin typeface="Noto Sans SC"/>
                <a:ea typeface="Noto Sans SC"/>
                <a:cs typeface="Noto Sans SC"/>
                <a:sym typeface="Noto Sans SC"/>
              </a:rPr>
              <a:t>成功开发并部署一个功能完备、界面友好、性能稳定的基于AI大模型的课程学习辅助平台，打造教育领域的智能化学习终端，为用户提供可靠的技术支撑。</a:t>
            </a:r>
            <a:endParaRPr lang="en-US" sz="1100"/>
          </a:p>
        </p:txBody>
      </p:sp>
      <p:sp>
        <p:nvSpPr>
          <p:cNvPr id="9" name="AutoShape 9"/>
          <p:cNvSpPr/>
          <p:nvPr/>
        </p:nvSpPr>
        <p:spPr>
          <a:xfrm>
            <a:off x="4445000" y="1651000"/>
            <a:ext cx="3492500" cy="2095500"/>
          </a:xfrm>
          <a:prstGeom prst="roundRect">
            <a:avLst>
              <a:gd name="adj" fmla="val 0"/>
            </a:avLst>
          </a:prstGeom>
          <a:solidFill>
            <a:srgbClr val="0F1E3C">
              <a:alpha val="85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445000" y="1651000"/>
            <a:ext cx="3492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1841500"/>
            <a:ext cx="304800" cy="304800"/>
          </a:xfrm>
          <a:prstGeom prst="rect">
            <a:avLst/>
          </a:prstGeom>
        </p:spPr>
      </p:pic>
      <p:sp>
        <p:nvSpPr>
          <p:cNvPr id="12" name="AutoShape 12"/>
          <p:cNvSpPr/>
          <p:nvPr/>
        </p:nvSpPr>
        <p:spPr>
          <a:xfrm>
            <a:off x="5080000" y="18034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价值目标</a:t>
            </a:r>
            <a:endParaRPr lang="en-US" sz="1100"/>
          </a:p>
        </p:txBody>
      </p:sp>
      <p:sp>
        <p:nvSpPr>
          <p:cNvPr id="13" name="AutoShape 13"/>
          <p:cNvSpPr/>
          <p:nvPr/>
        </p:nvSpPr>
        <p:spPr>
          <a:xfrm>
            <a:off x="4635500" y="2349500"/>
            <a:ext cx="3111500" cy="1206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DCE1EB"/>
                </a:solidFill>
                <a:latin typeface="Noto Sans SC"/>
                <a:ea typeface="Noto Sans SC"/>
                <a:cs typeface="Noto Sans SC"/>
                <a:sym typeface="Noto Sans SC"/>
              </a:rPr>
              <a:t>深度验证大语言模型在教育辅助领域的实际应用价值，探索AI技术与传统教学场景的融合边界，为后续智慧教育产品的迭代升级提供可落地的实践依据。</a:t>
            </a:r>
            <a:endParaRPr lang="en-US" sz="1100"/>
          </a:p>
        </p:txBody>
      </p:sp>
      <p:sp>
        <p:nvSpPr>
          <p:cNvPr id="14" name="AutoShape 14"/>
          <p:cNvSpPr/>
          <p:nvPr/>
        </p:nvSpPr>
        <p:spPr>
          <a:xfrm>
            <a:off x="8128000" y="1651000"/>
            <a:ext cx="3492500" cy="2095500"/>
          </a:xfrm>
          <a:prstGeom prst="roundRect">
            <a:avLst>
              <a:gd name="adj" fmla="val 0"/>
            </a:avLst>
          </a:prstGeom>
          <a:solidFill>
            <a:srgbClr val="0F1E3C">
              <a:alpha val="85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128000" y="1651000"/>
            <a:ext cx="34925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841500"/>
            <a:ext cx="304800" cy="304800"/>
          </a:xfrm>
          <a:prstGeom prst="rect">
            <a:avLst/>
          </a:prstGeom>
        </p:spPr>
      </p:pic>
      <p:sp>
        <p:nvSpPr>
          <p:cNvPr id="17" name="AutoShape 17"/>
          <p:cNvSpPr/>
          <p:nvPr/>
        </p:nvSpPr>
        <p:spPr>
          <a:xfrm>
            <a:off x="8763000" y="18034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学习目标</a:t>
            </a:r>
            <a:endParaRPr lang="en-US" sz="1100"/>
          </a:p>
        </p:txBody>
      </p:sp>
      <p:sp>
        <p:nvSpPr>
          <p:cNvPr id="18" name="AutoShape 18"/>
          <p:cNvSpPr/>
          <p:nvPr/>
        </p:nvSpPr>
        <p:spPr>
          <a:xfrm>
            <a:off x="8318500" y="2349500"/>
            <a:ext cx="3111500" cy="1206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DCE1EB"/>
                </a:solidFill>
                <a:latin typeface="Noto Sans SC"/>
                <a:ea typeface="Noto Sans SC"/>
                <a:cs typeface="Noto Sans SC"/>
                <a:sym typeface="Noto Sans SC"/>
              </a:rPr>
              <a:t>让团队成员在实战开发中深入理解并掌握软件工程全流程技能，包括需求分析、架构设计、前后端开发及部署运维，实现技术能力与项目经验的双重提升。</a:t>
            </a:r>
            <a:endParaRPr lang="en-US" sz="1100"/>
          </a:p>
        </p:txBody>
      </p:sp>
      <p:sp>
        <p:nvSpPr>
          <p:cNvPr id="19" name="AutoShape 19"/>
          <p:cNvSpPr/>
          <p:nvPr/>
        </p:nvSpPr>
        <p:spPr>
          <a:xfrm>
            <a:off x="762000" y="4000500"/>
            <a:ext cx="3492500" cy="2095500"/>
          </a:xfrm>
          <a:prstGeom prst="roundRect">
            <a:avLst>
              <a:gd name="adj" fmla="val 0"/>
            </a:avLst>
          </a:prstGeom>
          <a:solidFill>
            <a:srgbClr val="0F1E3C">
              <a:alpha val="85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4000500"/>
            <a:ext cx="3492500" cy="38100"/>
          </a:xfrm>
          <a:prstGeom prst="roundRect">
            <a:avLst>
              <a:gd name="adj" fmla="val 0"/>
            </a:avLst>
          </a:prstGeom>
          <a:solidFill>
            <a:srgbClr val="64C8FF">
              <a:alpha val="9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165600"/>
            <a:ext cx="304800" cy="304800"/>
          </a:xfrm>
          <a:prstGeom prst="rect">
            <a:avLst/>
          </a:prstGeom>
        </p:spPr>
      </p:pic>
      <p:sp>
        <p:nvSpPr>
          <p:cNvPr id="22" name="AutoShape 22"/>
          <p:cNvSpPr/>
          <p:nvPr/>
        </p:nvSpPr>
        <p:spPr>
          <a:xfrm>
            <a:off x="1397000" y="41275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多学科智能问答</a:t>
            </a:r>
            <a:endParaRPr lang="en-US" sz="1100"/>
          </a:p>
        </p:txBody>
      </p:sp>
      <p:sp>
        <p:nvSpPr>
          <p:cNvPr id="23" name="AutoShape 23"/>
          <p:cNvSpPr/>
          <p:nvPr/>
        </p:nvSpPr>
        <p:spPr>
          <a:xfrm>
            <a:off x="952500" y="4635500"/>
            <a:ext cx="3111500" cy="1206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DCE1EB"/>
                </a:solidFill>
                <a:latin typeface="Noto Sans SC"/>
                <a:ea typeface="Noto Sans SC"/>
                <a:cs typeface="Noto Sans SC"/>
                <a:sym typeface="Noto Sans SC"/>
              </a:rPr>
              <a:t>构建具备跨学科知识理解能力的智能问答模块，能够精准识别用户的问题意图，覆盖计算机、数学、物理等多领域课程内容，提供逻辑清晰、专业准确的即时解答。</a:t>
            </a:r>
            <a:endParaRPr lang="en-US" sz="1100"/>
          </a:p>
        </p:txBody>
      </p:sp>
      <p:sp>
        <p:nvSpPr>
          <p:cNvPr id="24" name="AutoShape 24"/>
          <p:cNvSpPr/>
          <p:nvPr/>
        </p:nvSpPr>
        <p:spPr>
          <a:xfrm>
            <a:off x="4445000" y="4000500"/>
            <a:ext cx="3492500" cy="2095500"/>
          </a:xfrm>
          <a:prstGeom prst="roundRect">
            <a:avLst>
              <a:gd name="adj" fmla="val 0"/>
            </a:avLst>
          </a:prstGeom>
          <a:solidFill>
            <a:srgbClr val="0F1E3C">
              <a:alpha val="85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4445000" y="4000500"/>
            <a:ext cx="3492500" cy="38100"/>
          </a:xfrm>
          <a:prstGeom prst="roundRect">
            <a:avLst>
              <a:gd name="adj" fmla="val 0"/>
            </a:avLst>
          </a:prstGeom>
          <a:solidFill>
            <a:srgbClr val="64C8FF">
              <a:alpha val="9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35500" y="4165600"/>
            <a:ext cx="304800" cy="304800"/>
          </a:xfrm>
          <a:prstGeom prst="rect">
            <a:avLst/>
          </a:prstGeom>
        </p:spPr>
      </p:pic>
      <p:sp>
        <p:nvSpPr>
          <p:cNvPr id="27" name="AutoShape 27"/>
          <p:cNvSpPr/>
          <p:nvPr/>
        </p:nvSpPr>
        <p:spPr>
          <a:xfrm>
            <a:off x="5080000" y="41275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实验报告生成</a:t>
            </a:r>
            <a:endParaRPr lang="en-US" sz="1100"/>
          </a:p>
        </p:txBody>
      </p:sp>
      <p:sp>
        <p:nvSpPr>
          <p:cNvPr id="28" name="AutoShape 28"/>
          <p:cNvSpPr/>
          <p:nvPr/>
        </p:nvSpPr>
        <p:spPr>
          <a:xfrm>
            <a:off x="4635500" y="4635500"/>
            <a:ext cx="3111500" cy="1206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DCE1EB"/>
                </a:solidFill>
                <a:latin typeface="Noto Sans SC"/>
                <a:ea typeface="Noto Sans SC"/>
                <a:cs typeface="Noto Sans SC"/>
                <a:sym typeface="Noto Sans SC"/>
              </a:rPr>
              <a:t>开发自动化报告生成引擎，用户仅需输入核心实验参数与关键过程记录，系统即可按照学术规范自动生成结构完整、数据详实的实验报告初稿，大幅提升学习效率。</a:t>
            </a:r>
            <a:endParaRPr lang="en-US" sz="1100"/>
          </a:p>
        </p:txBody>
      </p:sp>
      <p:sp>
        <p:nvSpPr>
          <p:cNvPr id="29" name="AutoShape 29"/>
          <p:cNvSpPr/>
          <p:nvPr/>
        </p:nvSpPr>
        <p:spPr>
          <a:xfrm>
            <a:off x="8128000" y="4000500"/>
            <a:ext cx="3492500" cy="2095500"/>
          </a:xfrm>
          <a:prstGeom prst="roundRect">
            <a:avLst>
              <a:gd name="adj" fmla="val 0"/>
            </a:avLst>
          </a:prstGeom>
          <a:solidFill>
            <a:srgbClr val="0F1E3C">
              <a:alpha val="85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8128000" y="4000500"/>
            <a:ext cx="3492500" cy="38100"/>
          </a:xfrm>
          <a:prstGeom prst="roundRect">
            <a:avLst>
              <a:gd name="adj" fmla="val 0"/>
            </a:avLst>
          </a:prstGeom>
          <a:solidFill>
            <a:srgbClr val="64C8FF">
              <a:alpha val="9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18500" y="4165600"/>
            <a:ext cx="304800" cy="304800"/>
          </a:xfrm>
          <a:prstGeom prst="rect">
            <a:avLst/>
          </a:prstGeom>
        </p:spPr>
      </p:pic>
      <p:sp>
        <p:nvSpPr>
          <p:cNvPr id="32" name="AutoShape 32"/>
          <p:cNvSpPr/>
          <p:nvPr/>
        </p:nvSpPr>
        <p:spPr>
          <a:xfrm>
            <a:off x="8763000" y="41275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多模式学习功能</a:t>
            </a:r>
            <a:endParaRPr lang="en-US" sz="1100"/>
          </a:p>
        </p:txBody>
      </p:sp>
      <p:sp>
        <p:nvSpPr>
          <p:cNvPr id="33" name="AutoShape 33"/>
          <p:cNvSpPr/>
          <p:nvPr/>
        </p:nvSpPr>
        <p:spPr>
          <a:xfrm>
            <a:off x="8318500" y="4635500"/>
            <a:ext cx="3111500" cy="1206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DCE1EB"/>
                </a:solidFill>
                <a:latin typeface="Noto Sans SC"/>
                <a:ea typeface="Noto Sans SC"/>
                <a:cs typeface="Noto Sans SC"/>
                <a:sym typeface="Noto Sans SC"/>
              </a:rPr>
              <a:t>打造多元化的学习辅助体系，涵盖复杂概念通俗解释、章节知识点智能总结、针对性练习题自动生成等核心模式，适应不同用户的个性化学习节奏与知识获取习惯。</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01 项目概述与计划</a:t>
            </a:r>
            <a:endParaRPr lang="en-US" sz="1100"/>
          </a:p>
        </p:txBody>
      </p:sp>
      <p:sp>
        <p:nvSpPr>
          <p:cNvPr id="4" name="AutoShape 4"/>
          <p:cNvSpPr/>
          <p:nvPr/>
        </p:nvSpPr>
        <p:spPr>
          <a:xfrm>
            <a:off x="762000" y="1651000"/>
            <a:ext cx="2667000" cy="2730500"/>
          </a:xfrm>
          <a:prstGeom prst="roundRect">
            <a:avLst>
              <a:gd name="adj" fmla="val 0"/>
            </a:avLst>
          </a:prstGeom>
          <a:solidFill>
            <a:srgbClr val="14233C">
              <a:alpha val="75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2667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8034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a:ea typeface="Noto Sans SC"/>
                <a:cs typeface="Noto Sans SC"/>
                <a:sym typeface="Noto Sans SC"/>
              </a:rPr>
              <a:t>启动与规划</a:t>
            </a:r>
            <a:endParaRPr lang="en-US" sz="1100"/>
          </a:p>
        </p:txBody>
      </p:sp>
      <p:sp>
        <p:nvSpPr>
          <p:cNvPr id="8" name="AutoShape 8"/>
          <p:cNvSpPr/>
          <p:nvPr/>
        </p:nvSpPr>
        <p:spPr>
          <a:xfrm>
            <a:off x="889000" y="2667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alpha val="94902"/>
                  </a:srgbClr>
                </a:solidFill>
                <a:latin typeface="Noto Sans SC"/>
                <a:ea typeface="Noto Sans SC"/>
                <a:cs typeface="Noto Sans SC"/>
                <a:sym typeface="Noto Sans SC"/>
              </a:rPr>
              <a:t>核心任务：</a:t>
            </a:r>
            <a:endParaRPr lang="en-US" sz="1100"/>
          </a:p>
        </p:txBody>
      </p:sp>
      <p:sp>
        <p:nvSpPr>
          <p:cNvPr id="9" name="AutoShape 9"/>
          <p:cNvSpPr/>
          <p:nvPr/>
        </p:nvSpPr>
        <p:spPr>
          <a:xfrm>
            <a:off x="889000" y="298450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D1D8E5"/>
                </a:solidFill>
                <a:latin typeface="Noto Sans SC"/>
                <a:ea typeface="Noto Sans SC"/>
                <a:cs typeface="Noto Sans SC"/>
                <a:sym typeface="Noto Sans SC"/>
              </a:rPr>
              <a:t>完成深度需求调研与分析，完成产品原型设计，确定技术架构与核心组件选型。</a:t>
            </a:r>
            <a:endParaRPr lang="en-US" sz="1100"/>
          </a:p>
        </p:txBody>
      </p:sp>
      <p:sp>
        <p:nvSpPr>
          <p:cNvPr id="10" name="AutoShape 10"/>
          <p:cNvSpPr/>
          <p:nvPr/>
        </p:nvSpPr>
        <p:spPr>
          <a:xfrm>
            <a:off x="889000" y="368300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90A8C2"/>
                </a:solidFill>
                <a:latin typeface="Noto Sans SC"/>
                <a:ea typeface="Noto Sans SC"/>
                <a:cs typeface="Noto Sans SC"/>
                <a:sym typeface="Noto Sans SC"/>
              </a:rPr>
              <a:t>交付：需求规格说明书、高保真交互原型、技术可行性分析报告。</a:t>
            </a:r>
            <a:endParaRPr lang="en-US" sz="1100"/>
          </a:p>
        </p:txBody>
      </p:sp>
      <p:sp>
        <p:nvSpPr>
          <p:cNvPr id="11" name="AutoShape 11"/>
          <p:cNvSpPr/>
          <p:nvPr/>
        </p:nvSpPr>
        <p:spPr>
          <a:xfrm>
            <a:off x="3556000" y="1651000"/>
            <a:ext cx="2667000" cy="2730500"/>
          </a:xfrm>
          <a:prstGeom prst="roundRect">
            <a:avLst>
              <a:gd name="adj" fmla="val 0"/>
            </a:avLst>
          </a:prstGeom>
          <a:solidFill>
            <a:srgbClr val="14233C">
              <a:alpha val="75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3556000" y="1651000"/>
            <a:ext cx="2667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3683000" y="18034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a:ea typeface="Noto Sans SC"/>
                <a:cs typeface="Noto Sans SC"/>
                <a:sym typeface="Noto Sans SC"/>
              </a:rPr>
              <a:t>设计与实现</a:t>
            </a:r>
            <a:endParaRPr lang="en-US" sz="1100"/>
          </a:p>
        </p:txBody>
      </p:sp>
      <p:sp>
        <p:nvSpPr>
          <p:cNvPr id="15" name="AutoShape 15"/>
          <p:cNvSpPr/>
          <p:nvPr/>
        </p:nvSpPr>
        <p:spPr>
          <a:xfrm>
            <a:off x="3683000" y="2667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alpha val="94902"/>
                  </a:srgbClr>
                </a:solidFill>
                <a:latin typeface="Noto Sans SC"/>
                <a:ea typeface="Noto Sans SC"/>
                <a:cs typeface="Noto Sans SC"/>
                <a:sym typeface="Noto Sans SC"/>
              </a:rPr>
              <a:t>核心任务：</a:t>
            </a:r>
            <a:endParaRPr lang="en-US" sz="1100"/>
          </a:p>
        </p:txBody>
      </p:sp>
      <p:sp>
        <p:nvSpPr>
          <p:cNvPr id="16" name="AutoShape 16"/>
          <p:cNvSpPr/>
          <p:nvPr/>
        </p:nvSpPr>
        <p:spPr>
          <a:xfrm>
            <a:off x="3683000" y="298450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D1D8E5"/>
                </a:solidFill>
                <a:latin typeface="Noto Sans SC"/>
                <a:ea typeface="Noto Sans SC"/>
                <a:cs typeface="Noto Sans SC"/>
                <a:sym typeface="Noto Sans SC"/>
              </a:rPr>
              <a:t>前后端功能并行开发，集成AI大模型接口，完成Prompt工程的逻辑与参数设计。</a:t>
            </a:r>
            <a:endParaRPr lang="en-US" sz="1100"/>
          </a:p>
        </p:txBody>
      </p:sp>
      <p:sp>
        <p:nvSpPr>
          <p:cNvPr id="17" name="AutoShape 17"/>
          <p:cNvSpPr/>
          <p:nvPr/>
        </p:nvSpPr>
        <p:spPr>
          <a:xfrm>
            <a:off x="3683000" y="368300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90A8C2"/>
                </a:solidFill>
                <a:latin typeface="Noto Sans SC"/>
                <a:ea typeface="Noto Sans SC"/>
                <a:cs typeface="Noto Sans SC"/>
                <a:sym typeface="Noto Sans SC"/>
              </a:rPr>
              <a:t>交付：可运行的系统初版、基础问答功能模块、接口联调测试记录。</a:t>
            </a:r>
            <a:endParaRPr lang="en-US" sz="1100"/>
          </a:p>
        </p:txBody>
      </p:sp>
      <p:sp>
        <p:nvSpPr>
          <p:cNvPr id="18" name="AutoShape 18"/>
          <p:cNvSpPr/>
          <p:nvPr/>
        </p:nvSpPr>
        <p:spPr>
          <a:xfrm>
            <a:off x="6350000" y="1651000"/>
            <a:ext cx="2667000" cy="2730500"/>
          </a:xfrm>
          <a:prstGeom prst="roundRect">
            <a:avLst>
              <a:gd name="adj" fmla="val 0"/>
            </a:avLst>
          </a:prstGeom>
          <a:solidFill>
            <a:srgbClr val="14233C">
              <a:alpha val="75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350000" y="1651000"/>
            <a:ext cx="2667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477000" y="18034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a:ea typeface="Noto Sans SC"/>
                <a:cs typeface="Noto Sans SC"/>
                <a:sym typeface="Noto Sans SC"/>
              </a:rPr>
              <a:t>增强与优化</a:t>
            </a:r>
            <a:endParaRPr lang="en-US" sz="1100"/>
          </a:p>
        </p:txBody>
      </p:sp>
      <p:sp>
        <p:nvSpPr>
          <p:cNvPr id="22" name="AutoShape 22"/>
          <p:cNvSpPr/>
          <p:nvPr/>
        </p:nvSpPr>
        <p:spPr>
          <a:xfrm>
            <a:off x="6477000" y="2667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alpha val="94902"/>
                  </a:srgbClr>
                </a:solidFill>
                <a:latin typeface="Noto Sans SC"/>
                <a:ea typeface="Noto Sans SC"/>
                <a:cs typeface="Noto Sans SC"/>
                <a:sym typeface="Noto Sans SC"/>
              </a:rPr>
              <a:t>核心任务：</a:t>
            </a:r>
            <a:endParaRPr lang="en-US" sz="1100"/>
          </a:p>
        </p:txBody>
      </p:sp>
      <p:sp>
        <p:nvSpPr>
          <p:cNvPr id="23" name="AutoShape 23"/>
          <p:cNvSpPr/>
          <p:nvPr/>
        </p:nvSpPr>
        <p:spPr>
          <a:xfrm>
            <a:off x="6477000" y="298450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D1D8E5"/>
                </a:solidFill>
                <a:latin typeface="Noto Sans SC"/>
                <a:ea typeface="Noto Sans SC"/>
                <a:cs typeface="Noto Sans SC"/>
                <a:sym typeface="Noto Sans SC"/>
              </a:rPr>
              <a:t>基于用户体验进行UI界面升级，开发历史对话记录功能，修复已知Bug。</a:t>
            </a:r>
            <a:endParaRPr lang="en-US" sz="1100"/>
          </a:p>
        </p:txBody>
      </p:sp>
      <p:sp>
        <p:nvSpPr>
          <p:cNvPr id="24" name="AutoShape 24"/>
          <p:cNvSpPr/>
          <p:nvPr/>
        </p:nvSpPr>
        <p:spPr>
          <a:xfrm>
            <a:off x="6477000" y="368300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90A8C2"/>
                </a:solidFill>
                <a:latin typeface="Noto Sans SC"/>
                <a:ea typeface="Noto Sans SC"/>
                <a:cs typeface="Noto Sans SC"/>
                <a:sym typeface="Noto Sans SC"/>
              </a:rPr>
              <a:t>交付：体验优化后的系统测试版、功能迭代说明文档、用户体验反馈报告。</a:t>
            </a:r>
            <a:endParaRPr lang="en-US" sz="1100"/>
          </a:p>
        </p:txBody>
      </p:sp>
      <p:sp>
        <p:nvSpPr>
          <p:cNvPr id="25" name="AutoShape 25"/>
          <p:cNvSpPr/>
          <p:nvPr/>
        </p:nvSpPr>
        <p:spPr>
          <a:xfrm>
            <a:off x="9144000" y="1651000"/>
            <a:ext cx="2667000" cy="2730500"/>
          </a:xfrm>
          <a:prstGeom prst="roundRect">
            <a:avLst>
              <a:gd name="adj" fmla="val 0"/>
            </a:avLst>
          </a:prstGeom>
          <a:solidFill>
            <a:srgbClr val="14233C">
              <a:alpha val="75000"/>
            </a:srgbClr>
          </a:solidFill>
          <a:ln w="12700" cap="flat" cmpd="sng">
            <a:solidFill>
              <a:srgbClr val="4A90E2">
                <a:alpha val="4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144000" y="1651000"/>
            <a:ext cx="2667000" cy="381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9271000" y="18034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a:ea typeface="Noto Sans SC"/>
                <a:cs typeface="Noto Sans SC"/>
                <a:sym typeface="Noto Sans SC"/>
              </a:rPr>
              <a:t>测试与交付</a:t>
            </a:r>
            <a:endParaRPr lang="en-US" sz="1100"/>
          </a:p>
        </p:txBody>
      </p:sp>
      <p:sp>
        <p:nvSpPr>
          <p:cNvPr id="29" name="AutoShape 29"/>
          <p:cNvSpPr/>
          <p:nvPr/>
        </p:nvSpPr>
        <p:spPr>
          <a:xfrm>
            <a:off x="9271000" y="2667000"/>
            <a:ext cx="241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FFFF">
                    <a:alpha val="94902"/>
                  </a:srgbClr>
                </a:solidFill>
                <a:latin typeface="Noto Sans SC"/>
                <a:ea typeface="Noto Sans SC"/>
                <a:cs typeface="Noto Sans SC"/>
                <a:sym typeface="Noto Sans SC"/>
              </a:rPr>
              <a:t>核心任务：</a:t>
            </a:r>
            <a:endParaRPr lang="en-US" sz="1100"/>
          </a:p>
        </p:txBody>
      </p:sp>
      <p:sp>
        <p:nvSpPr>
          <p:cNvPr id="30" name="AutoShape 30"/>
          <p:cNvSpPr/>
          <p:nvPr/>
        </p:nvSpPr>
        <p:spPr>
          <a:xfrm>
            <a:off x="9271000" y="298450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D1D8E5"/>
                </a:solidFill>
                <a:latin typeface="Noto Sans SC"/>
                <a:ea typeface="Noto Sans SC"/>
                <a:cs typeface="Noto Sans SC"/>
                <a:sym typeface="Noto Sans SC"/>
              </a:rPr>
              <a:t>开展系统全面验收测试，整理项目开发与技术文档，准备最终答辩材料。</a:t>
            </a:r>
            <a:endParaRPr lang="en-US" sz="1100"/>
          </a:p>
        </p:txBody>
      </p:sp>
      <p:sp>
        <p:nvSpPr>
          <p:cNvPr id="31" name="AutoShape 31"/>
          <p:cNvSpPr/>
          <p:nvPr/>
        </p:nvSpPr>
        <p:spPr>
          <a:xfrm>
            <a:off x="9271000" y="3683000"/>
            <a:ext cx="2413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90A8C2"/>
                </a:solidFill>
                <a:latin typeface="Noto Sans SC"/>
                <a:ea typeface="Noto Sans SC"/>
                <a:cs typeface="Noto Sans SC"/>
                <a:sym typeface="Noto Sans SC"/>
              </a:rPr>
              <a:t>交付：最终可演示成品系统、完整项目技术档案、答辩汇报PPT及演示视频。</a:t>
            </a:r>
            <a:endParaRPr lang="en-US" sz="1100"/>
          </a:p>
        </p:txBody>
      </p:sp>
      <p:sp>
        <p:nvSpPr>
          <p:cNvPr id="32" name="AutoShape 32"/>
          <p:cNvSpPr/>
          <p:nvPr/>
        </p:nvSpPr>
        <p:spPr>
          <a:xfrm>
            <a:off x="762000" y="4635500"/>
            <a:ext cx="11049000" cy="1714500"/>
          </a:xfrm>
          <a:prstGeom prst="roundRect">
            <a:avLst>
              <a:gd name="adj" fmla="val 0"/>
            </a:avLst>
          </a:prstGeom>
          <a:solidFill>
            <a:srgbClr val="0F192D">
              <a:alpha val="85000"/>
            </a:srgbClr>
          </a:solidFill>
          <a:ln w="12700" cap="flat" cmpd="sng">
            <a:solidFill>
              <a:srgbClr val="4A90E2">
                <a:alpha val="25000"/>
              </a:srgbClr>
            </a:solid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1016000" y="4800600"/>
            <a:ext cx="1054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dirty="0" err="1">
                <a:solidFill>
                  <a:srgbClr val="FFFFFF"/>
                </a:solidFill>
                <a:latin typeface="Noto Sans SC"/>
                <a:ea typeface="Noto Sans SC"/>
                <a:cs typeface="Noto Sans SC"/>
                <a:sym typeface="Noto Sans SC"/>
              </a:rPr>
              <a:t>全周期迭代策略，保障平台高质量落地</a:t>
            </a:r>
            <a:endParaRPr lang="en-US" sz="1100" dirty="0"/>
          </a:p>
        </p:txBody>
      </p:sp>
      <p:sp>
        <p:nvSpPr>
          <p:cNvPr id="34" name="AutoShape 34"/>
          <p:cNvSpPr/>
          <p:nvPr/>
        </p:nvSpPr>
        <p:spPr>
          <a:xfrm>
            <a:off x="1016000" y="5270500"/>
            <a:ext cx="10541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dirty="0">
                <a:solidFill>
                  <a:srgbClr val="C8D7EB"/>
                </a:solidFill>
                <a:latin typeface="Noto Sans SC"/>
                <a:ea typeface="Noto Sans SC"/>
                <a:cs typeface="Noto Sans SC"/>
                <a:sym typeface="Noto Sans SC"/>
              </a:rPr>
              <a:t>我们采用敏捷迭代的开发模式，将开发周期科学划分为四个关键里程碑。从前期的严谨规划到中期的核心开发与优化，再到最后的验收交付，每个阶段都设置了清晰的任务边界与可量化的交付标准。这种方式不仅能有效规避开发风险，确保项目进度可控，更能让教育平台的核心功能与用户体验在每一个环节都得到充分打磨，最终呈现出一个功能完善、体验流畅的智慧教育产品。</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032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FFFFFF">
                    <a:alpha val="94902"/>
                  </a:srgbClr>
                </a:solidFill>
                <a:latin typeface="Noto Sans SC"/>
                <a:ea typeface="Noto Sans SC"/>
                <a:cs typeface="Noto Sans SC"/>
                <a:sym typeface="Noto Sans SC"/>
              </a:rPr>
              <a:t>02</a:t>
            </a:r>
            <a:endParaRPr lang="en-US" sz="1100"/>
          </a:p>
        </p:txBody>
      </p:sp>
      <p:sp>
        <p:nvSpPr>
          <p:cNvPr id="4" name="AutoShape 4"/>
          <p:cNvSpPr/>
          <p:nvPr/>
        </p:nvSpPr>
        <p:spPr>
          <a:xfrm>
            <a:off x="0" y="4191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项目进度与协作</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02 项目进度与协作</a:t>
            </a:r>
            <a:endParaRPr lang="en-US" sz="1100"/>
          </a:p>
        </p:txBody>
      </p:sp>
      <p:sp>
        <p:nvSpPr>
          <p:cNvPr id="4" name="AutoShape 4"/>
          <p:cNvSpPr/>
          <p:nvPr/>
        </p:nvSpPr>
        <p:spPr>
          <a:xfrm>
            <a:off x="762000" y="1524000"/>
            <a:ext cx="5270500" cy="2921000"/>
          </a:xfrm>
          <a:prstGeom prst="roundRect">
            <a:avLst>
              <a:gd name="adj" fmla="val 0"/>
            </a:avLst>
          </a:prstGeom>
          <a:solidFill>
            <a:srgbClr val="1E293B">
              <a:alpha val="85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651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a:ea typeface="Noto Sans SC"/>
                <a:cs typeface="Noto Sans SC"/>
                <a:sym typeface="Noto Sans SC"/>
              </a:rPr>
              <a:t>项目进度完成曲线</a:t>
            </a:r>
            <a:endParaRPr lang="en-US" sz="1100"/>
          </a:p>
        </p:txBody>
      </p:sp>
      <p:pic>
        <p:nvPicPr>
          <p:cNvPr id="6" name="Picture 6"/>
          <p:cNvPicPr>
            <a:picLocks noChangeAspect="1"/>
          </p:cNvPicPr>
          <p:nvPr/>
        </p:nvPicPr>
        <p:blipFill>
          <a:blip r:embed="rId4"/>
          <a:stretch>
            <a:fillRect/>
          </a:stretch>
        </p:blipFill>
        <p:spPr>
          <a:xfrm>
            <a:off x="952500" y="2159000"/>
            <a:ext cx="2476500" cy="1587500"/>
          </a:xfrm>
          <a:prstGeom prst="rect">
            <a:avLst/>
          </a:prstGeom>
          <a:ln w="12700">
            <a:noFill/>
            <a:prstDash val="solid"/>
          </a:ln>
        </p:spPr>
      </p:pic>
      <p:sp>
        <p:nvSpPr>
          <p:cNvPr id="7" name="AutoShape 7"/>
          <p:cNvSpPr/>
          <p:nvPr/>
        </p:nvSpPr>
        <p:spPr>
          <a:xfrm>
            <a:off x="3556000" y="2159000"/>
            <a:ext cx="2349500" cy="184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dirty="0">
                <a:solidFill>
                  <a:srgbClr val="E2E8F0"/>
                </a:solidFill>
                <a:latin typeface="Noto Sans SC"/>
                <a:ea typeface="Noto Sans SC"/>
                <a:cs typeface="Noto Sans SC"/>
                <a:sym typeface="Noto Sans SC"/>
              </a:rPr>
              <a:t>前期需求梳理阶段推进平缓，进入核心开发期后效率显著跃升。后期通过系统联调与优化，进度曲线趋于稳定，最终在第10周达成</a:t>
            </a:r>
            <a:r>
              <a:rPr lang="en-US" sz="1200" dirty="0">
                <a:solidFill>
                  <a:srgbClr val="E2E8F0"/>
                </a:solidFill>
                <a:latin typeface="Noto Sans SC"/>
                <a:ea typeface="Noto Sans SC"/>
                <a:cs typeface="Noto Sans SC"/>
                <a:sym typeface="Noto Sans SC"/>
              </a:rPr>
              <a:t>80</a:t>
            </a:r>
            <a:r>
              <a:rPr lang="en-US" sz="1200" b="0" i="0" u="none" strike="noStrike" dirty="0">
                <a:solidFill>
                  <a:srgbClr val="E2E8F0"/>
                </a:solidFill>
                <a:latin typeface="Noto Sans SC"/>
                <a:ea typeface="Noto Sans SC"/>
                <a:cs typeface="Noto Sans SC"/>
                <a:sym typeface="Noto Sans SC"/>
              </a:rPr>
              <a:t>%功能交付，顺利完成阶段性里程碑目标。</a:t>
            </a:r>
            <a:endParaRPr lang="en-US" sz="1100" dirty="0"/>
          </a:p>
        </p:txBody>
      </p:sp>
      <p:sp>
        <p:nvSpPr>
          <p:cNvPr id="8" name="AutoShape 8"/>
          <p:cNvSpPr/>
          <p:nvPr/>
        </p:nvSpPr>
        <p:spPr>
          <a:xfrm>
            <a:off x="6286500" y="1524000"/>
            <a:ext cx="5270500" cy="2921000"/>
          </a:xfrm>
          <a:prstGeom prst="roundRect">
            <a:avLst>
              <a:gd name="adj" fmla="val 0"/>
            </a:avLst>
          </a:prstGeom>
          <a:solidFill>
            <a:srgbClr val="1E293B">
              <a:alpha val="85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477000" y="1651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50E3C2"/>
                </a:solidFill>
                <a:latin typeface="Noto Sans SC"/>
                <a:ea typeface="Noto Sans SC"/>
                <a:cs typeface="Noto Sans SC"/>
                <a:sym typeface="Noto Sans SC"/>
              </a:rPr>
              <a:t>任务剩余燃尽趋势</a:t>
            </a:r>
            <a:endParaRPr lang="en-US" sz="1100"/>
          </a:p>
        </p:txBody>
      </p:sp>
      <p:pic>
        <p:nvPicPr>
          <p:cNvPr id="10" name="Picture 10"/>
          <p:cNvPicPr>
            <a:picLocks noChangeAspect="1"/>
          </p:cNvPicPr>
          <p:nvPr/>
        </p:nvPicPr>
        <p:blipFill>
          <a:blip r:embed="rId5"/>
          <a:stretch>
            <a:fillRect/>
          </a:stretch>
        </p:blipFill>
        <p:spPr>
          <a:xfrm>
            <a:off x="6477000" y="2159000"/>
            <a:ext cx="2476500" cy="1587500"/>
          </a:xfrm>
          <a:prstGeom prst="rect">
            <a:avLst/>
          </a:prstGeom>
          <a:ln w="12700">
            <a:noFill/>
            <a:prstDash val="solid"/>
          </a:ln>
        </p:spPr>
      </p:pic>
      <p:sp>
        <p:nvSpPr>
          <p:cNvPr id="11" name="AutoShape 11"/>
          <p:cNvSpPr/>
          <p:nvPr/>
        </p:nvSpPr>
        <p:spPr>
          <a:xfrm>
            <a:off x="9080500" y="2159000"/>
            <a:ext cx="2349500" cy="184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2E8F0"/>
                </a:solidFill>
                <a:latin typeface="Noto Sans SC"/>
                <a:ea typeface="Noto Sans SC"/>
                <a:cs typeface="Noto Sans SC"/>
                <a:sym typeface="Noto Sans SC"/>
              </a:rPr>
              <a:t>初期积压任务被快速拆解与分发，随着敏捷迭代的深入，剩余工作量呈陡峭下降趋势。潜在风险点在迭代中提前暴露并解决，最终所有需求点按期清零，确保项目高质量按期上线。</a:t>
            </a:r>
            <a:endParaRPr lang="en-US" sz="1100"/>
          </a:p>
        </p:txBody>
      </p:sp>
      <p:sp>
        <p:nvSpPr>
          <p:cNvPr id="12" name="AutoShape 12"/>
          <p:cNvSpPr/>
          <p:nvPr/>
        </p:nvSpPr>
        <p:spPr>
          <a:xfrm>
            <a:off x="762000" y="4699000"/>
            <a:ext cx="10795000" cy="1778000"/>
          </a:xfrm>
          <a:prstGeom prst="roundRect">
            <a:avLst>
              <a:gd name="adj" fmla="val 0"/>
            </a:avLst>
          </a:prstGeom>
          <a:solidFill>
            <a:srgbClr val="0F1C32">
              <a:alpha val="92000"/>
            </a:srgbClr>
          </a:solidFill>
          <a:ln w="12700" cap="flat" cmpd="sng">
            <a:solidFill>
              <a:srgbClr val="4A90E2">
                <a:alpha val="7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952500" y="4889500"/>
            <a:ext cx="812800" cy="812800"/>
          </a:xfrm>
          <a:prstGeom prst="roundRect">
            <a:avLst>
              <a:gd name="adj" fmla="val 0"/>
            </a:avLst>
          </a:prstGeom>
          <a:solidFill>
            <a:srgbClr val="4A90E2">
              <a:alpha val="2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8700" y="4965700"/>
            <a:ext cx="660400" cy="660400"/>
          </a:xfrm>
          <a:prstGeom prst="rect">
            <a:avLst/>
          </a:prstGeom>
        </p:spPr>
      </p:pic>
      <p:sp>
        <p:nvSpPr>
          <p:cNvPr id="15" name="AutoShape 15"/>
          <p:cNvSpPr/>
          <p:nvPr/>
        </p:nvSpPr>
        <p:spPr>
          <a:xfrm>
            <a:off x="2032000" y="4889500"/>
            <a:ext cx="3175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敏捷开发全流程协同</a:t>
            </a:r>
            <a:endParaRPr lang="en-US" sz="1100"/>
          </a:p>
        </p:txBody>
      </p:sp>
      <p:sp>
        <p:nvSpPr>
          <p:cNvPr id="16" name="AutoShape 16"/>
          <p:cNvSpPr/>
          <p:nvPr/>
        </p:nvSpPr>
        <p:spPr>
          <a:xfrm>
            <a:off x="2032000" y="5461000"/>
            <a:ext cx="5715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CBD5E1"/>
                </a:solidFill>
                <a:latin typeface="Noto Sans SC"/>
                <a:ea typeface="Noto Sans SC"/>
                <a:cs typeface="Noto Sans SC"/>
                <a:sym typeface="Noto Sans SC"/>
              </a:rPr>
              <a:t>依托每日站会同步进度、GitHub Projects 可视化看板追踪状态，严格执行分支开发与代码审查机制。高频反馈缩短了沟通链路，快速迭代模式让团队能灵活响应变化，将开发风险控制在每个短周期内，实现高效透明的研发闭环。</a:t>
            </a:r>
            <a:endParaRPr lang="en-US" sz="1100"/>
          </a:p>
        </p:txBody>
      </p:sp>
      <p:cxnSp>
        <p:nvCxnSpPr>
          <p:cNvPr id="17" name="Connector 17"/>
          <p:cNvCxnSpPr/>
          <p:nvPr/>
        </p:nvCxnSpPr>
        <p:spPr>
          <a:xfrm rot="5367260">
            <a:off x="7334250" y="5549930"/>
            <a:ext cx="13335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8" name="AutoShape 18"/>
          <p:cNvSpPr/>
          <p:nvPr/>
        </p:nvSpPr>
        <p:spPr>
          <a:xfrm>
            <a:off x="8255000" y="4889500"/>
            <a:ext cx="3048000" cy="1524000"/>
          </a:xfrm>
          <a:prstGeom prst="roundRect">
            <a:avLst>
              <a:gd name="adj" fmla="val 0"/>
            </a:avLst>
          </a:prstGeom>
          <a:solidFill>
            <a:srgbClr val="4A90E2">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382000" y="49784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50E3C2"/>
                </a:solidFill>
                <a:latin typeface="Noto Sans SC"/>
                <a:ea typeface="Noto Sans SC"/>
                <a:cs typeface="Noto Sans SC"/>
                <a:sym typeface="Noto Sans SC"/>
              </a:rPr>
              <a:t>执行效能突破</a:t>
            </a:r>
            <a:endParaRPr lang="en-US" sz="1100"/>
          </a:p>
        </p:txBody>
      </p:sp>
      <p:sp>
        <p:nvSpPr>
          <p:cNvPr id="20" name="AutoShape 20"/>
          <p:cNvSpPr/>
          <p:nvPr/>
        </p:nvSpPr>
        <p:spPr>
          <a:xfrm>
            <a:off x="8382000" y="5397500"/>
            <a:ext cx="2794000" cy="952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E2E8F0"/>
                </a:solidFill>
                <a:latin typeface="Noto Sans SC"/>
                <a:ea typeface="Noto Sans SC"/>
                <a:cs typeface="Noto Sans SC"/>
                <a:sym typeface="Noto Sans SC"/>
              </a:rPr>
              <a:t>任务流转提速 40%，代码冲突率大幅下降。在保持工作节奏的前提下，团队以零延期、高质量的标准完成了产品核心版本的迭代上线。</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968500"/>
            <a:ext cx="12192000" cy="203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FFFFFF">
                    <a:alpha val="94902"/>
                  </a:srgbClr>
                </a:solidFill>
                <a:latin typeface="Noto Sans SC"/>
                <a:ea typeface="Noto Sans SC"/>
                <a:cs typeface="Noto Sans SC"/>
                <a:sym typeface="Noto Sans SC"/>
              </a:rPr>
              <a:t>03</a:t>
            </a:r>
            <a:endParaRPr lang="en-US" sz="1100"/>
          </a:p>
        </p:txBody>
      </p:sp>
      <p:sp>
        <p:nvSpPr>
          <p:cNvPr id="4" name="AutoShape 4"/>
          <p:cNvSpPr/>
          <p:nvPr/>
        </p:nvSpPr>
        <p:spPr>
          <a:xfrm>
            <a:off x="0" y="4191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问题与解决方案</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03 问题与解决方案</a:t>
            </a:r>
            <a:endParaRPr lang="en-US" sz="1100"/>
          </a:p>
        </p:txBody>
      </p:sp>
      <p:sp>
        <p:nvSpPr>
          <p:cNvPr id="4" name="AutoShape 4"/>
          <p:cNvSpPr/>
          <p:nvPr/>
        </p:nvSpPr>
        <p:spPr>
          <a:xfrm>
            <a:off x="762000" y="1651000"/>
            <a:ext cx="5270500" cy="4572000"/>
          </a:xfrm>
          <a:prstGeom prst="roundRect">
            <a:avLst>
              <a:gd name="adj" fmla="val 0"/>
            </a:avLst>
          </a:prstGeom>
          <a:solidFill>
            <a:srgbClr val="0F1C37">
              <a:alpha val="85000"/>
            </a:srgbClr>
          </a:solidFill>
          <a:ln w="12700" cap="flat" cmpd="sng">
            <a:solidFill>
              <a:srgbClr val="4A90E2">
                <a:alpha val="6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5270500" cy="711200"/>
          </a:xfrm>
          <a:prstGeom prst="roundRect">
            <a:avLst>
              <a:gd name="adj" fmla="val 0"/>
            </a:avLst>
          </a:prstGeom>
          <a:solidFill>
            <a:srgbClr val="4A90E2">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651000"/>
            <a:ext cx="50800" cy="7112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1727200"/>
            <a:ext cx="4826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问题一：API 连接异常</a:t>
            </a:r>
            <a:endParaRPr lang="en-US" sz="1100"/>
          </a:p>
        </p:txBody>
      </p:sp>
      <p:sp>
        <p:nvSpPr>
          <p:cNvPr id="8" name="AutoShape 8"/>
          <p:cNvSpPr/>
          <p:nvPr/>
        </p:nvSpPr>
        <p:spPr>
          <a:xfrm>
            <a:off x="952500" y="2540000"/>
            <a:ext cx="4889500" cy="1143000"/>
          </a:xfrm>
          <a:prstGeom prst="roundRect">
            <a:avLst>
              <a:gd name="adj" fmla="val 0"/>
            </a:avLst>
          </a:prstGeom>
          <a:solidFill>
            <a:srgbClr val="FFFFFF">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79500" y="2603500"/>
            <a:ext cx="4635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4B4FF"/>
                </a:solidFill>
                <a:latin typeface="Noto Sans SC"/>
                <a:ea typeface="Noto Sans SC"/>
                <a:cs typeface="Noto Sans SC"/>
                <a:sym typeface="Noto Sans SC"/>
              </a:rPr>
              <a:t>异常现象：</a:t>
            </a:r>
            <a:endParaRPr lang="en-US" sz="1100"/>
          </a:p>
        </p:txBody>
      </p:sp>
      <p:sp>
        <p:nvSpPr>
          <p:cNvPr id="10" name="AutoShape 10"/>
          <p:cNvSpPr/>
          <p:nvPr/>
        </p:nvSpPr>
        <p:spPr>
          <a:xfrm>
            <a:off x="1079500" y="2984500"/>
            <a:ext cx="46355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E0E6F0"/>
                </a:solidFill>
                <a:latin typeface="Noto Sans SC"/>
                <a:ea typeface="Noto Sans SC"/>
                <a:cs typeface="Noto Sans SC"/>
                <a:sym typeface="Noto Sans SC"/>
              </a:rPr>
              <a:t>调用 Moonshot API 过程中，系统偶发抛出 SSLEOFError 或连接超时错误，导致请求中途中断，无法正常获取模型响应结果。</a:t>
            </a:r>
            <a:endParaRPr lang="en-US" sz="1100"/>
          </a:p>
        </p:txBody>
      </p:sp>
      <p:sp>
        <p:nvSpPr>
          <p:cNvPr id="11" name="AutoShape 11"/>
          <p:cNvSpPr/>
          <p:nvPr/>
        </p:nvSpPr>
        <p:spPr>
          <a:xfrm>
            <a:off x="952500" y="3810000"/>
            <a:ext cx="4889500" cy="952500"/>
          </a:xfrm>
          <a:prstGeom prst="roundRect">
            <a:avLst>
              <a:gd name="adj" fmla="val 0"/>
            </a:avLst>
          </a:prstGeom>
          <a:solidFill>
            <a:srgbClr val="FFFFFF">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079500" y="3873500"/>
            <a:ext cx="4635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59E0B"/>
                </a:solidFill>
                <a:latin typeface="Noto Sans SC"/>
                <a:ea typeface="Noto Sans SC"/>
                <a:cs typeface="Noto Sans SC"/>
                <a:sym typeface="Noto Sans SC"/>
              </a:rPr>
              <a:t>根因分析：</a:t>
            </a:r>
            <a:endParaRPr lang="en-US" sz="1100"/>
          </a:p>
        </p:txBody>
      </p:sp>
      <p:sp>
        <p:nvSpPr>
          <p:cNvPr id="13" name="AutoShape 13"/>
          <p:cNvSpPr/>
          <p:nvPr/>
        </p:nvSpPr>
        <p:spPr>
          <a:xfrm>
            <a:off x="1079500" y="4216400"/>
            <a:ext cx="46355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E0E6F0"/>
                </a:solidFill>
                <a:latin typeface="Noto Sans SC"/>
                <a:ea typeface="Noto Sans SC"/>
                <a:cs typeface="Noto Sans SC"/>
                <a:sym typeface="Noto Sans SC"/>
              </a:rPr>
              <a:t>网络链路的瞬时不稳定性，或高频请求触发了服务端的流量限流策略，导致连接被主动关闭。</a:t>
            </a:r>
            <a:endParaRPr lang="en-US" sz="1100"/>
          </a:p>
        </p:txBody>
      </p:sp>
      <p:sp>
        <p:nvSpPr>
          <p:cNvPr id="14" name="AutoShape 14"/>
          <p:cNvSpPr/>
          <p:nvPr/>
        </p:nvSpPr>
        <p:spPr>
          <a:xfrm>
            <a:off x="952500" y="4889500"/>
            <a:ext cx="4889500" cy="1270000"/>
          </a:xfrm>
          <a:prstGeom prst="roundRect">
            <a:avLst>
              <a:gd name="adj" fmla="val 0"/>
            </a:avLst>
          </a:prstGeom>
          <a:solidFill>
            <a:srgbClr val="4A90E2">
              <a:alpha val="1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079500" y="4927600"/>
            <a:ext cx="4635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4D399"/>
                </a:solidFill>
                <a:latin typeface="Noto Sans SC"/>
                <a:ea typeface="Noto Sans SC"/>
                <a:cs typeface="Noto Sans SC"/>
                <a:sym typeface="Noto Sans SC"/>
              </a:rPr>
              <a:t>技术应对方案：</a:t>
            </a:r>
            <a:endParaRPr lang="en-US" sz="1100"/>
          </a:p>
        </p:txBody>
      </p:sp>
      <p:sp>
        <p:nvSpPr>
          <p:cNvPr id="16" name="AutoShape 16"/>
          <p:cNvSpPr/>
          <p:nvPr/>
        </p:nvSpPr>
        <p:spPr>
          <a:xfrm>
            <a:off x="1079500" y="5308600"/>
            <a:ext cx="4635500" cy="825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BF2FA"/>
                </a:solidFill>
                <a:latin typeface="Noto Sans SC"/>
                <a:ea typeface="Noto Sans SC"/>
                <a:cs typeface="Noto Sans SC"/>
                <a:sym typeface="Noto Sans SC"/>
              </a:rPr>
              <a:t>引入 tenacity 库实现带指数退避的自动重试机制，配合 try-except 异常捕获逻辑。既避免了瞬时错误导致的任务失败，又通过退避策略减轻了服务端压力，确保请求的最终一致性。</a:t>
            </a:r>
            <a:endParaRPr lang="en-US" sz="1100"/>
          </a:p>
        </p:txBody>
      </p:sp>
      <p:cxnSp>
        <p:nvCxnSpPr>
          <p:cNvPr id="17" name="Connector 17"/>
          <p:cNvCxnSpPr/>
          <p:nvPr/>
        </p:nvCxnSpPr>
        <p:spPr>
          <a:xfrm rot="5390450">
            <a:off x="3911600" y="3930659"/>
            <a:ext cx="4572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8" name="AutoShape 18"/>
          <p:cNvSpPr/>
          <p:nvPr/>
        </p:nvSpPr>
        <p:spPr>
          <a:xfrm>
            <a:off x="6286500" y="1651000"/>
            <a:ext cx="5270500" cy="4572000"/>
          </a:xfrm>
          <a:prstGeom prst="roundRect">
            <a:avLst>
              <a:gd name="adj" fmla="val 0"/>
            </a:avLst>
          </a:prstGeom>
          <a:solidFill>
            <a:srgbClr val="0F1C37">
              <a:alpha val="85000"/>
            </a:srgbClr>
          </a:solidFill>
          <a:ln w="12700" cap="flat" cmpd="sng">
            <a:solidFill>
              <a:srgbClr val="4A90E2">
                <a:alpha val="6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286500" y="1651000"/>
            <a:ext cx="5270500" cy="711200"/>
          </a:xfrm>
          <a:prstGeom prst="roundRect">
            <a:avLst>
              <a:gd name="adj" fmla="val 0"/>
            </a:avLst>
          </a:prstGeom>
          <a:solidFill>
            <a:srgbClr val="4A90E2">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286500" y="1651000"/>
            <a:ext cx="50800" cy="7112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477000" y="1727200"/>
            <a:ext cx="4826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问题二：数据编码异常</a:t>
            </a:r>
            <a:endParaRPr lang="en-US" sz="1100"/>
          </a:p>
        </p:txBody>
      </p:sp>
      <p:sp>
        <p:nvSpPr>
          <p:cNvPr id="22" name="AutoShape 22"/>
          <p:cNvSpPr/>
          <p:nvPr/>
        </p:nvSpPr>
        <p:spPr>
          <a:xfrm>
            <a:off x="6477000" y="2540000"/>
            <a:ext cx="4889500" cy="1143000"/>
          </a:xfrm>
          <a:prstGeom prst="roundRect">
            <a:avLst>
              <a:gd name="adj" fmla="val 0"/>
            </a:avLst>
          </a:prstGeom>
          <a:solidFill>
            <a:srgbClr val="FFFFFF">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604000" y="2603500"/>
            <a:ext cx="4635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4B4FF"/>
                </a:solidFill>
                <a:latin typeface="Noto Sans SC"/>
                <a:ea typeface="Noto Sans SC"/>
                <a:cs typeface="Noto Sans SC"/>
                <a:sym typeface="Noto Sans SC"/>
              </a:rPr>
              <a:t>异常现象：</a:t>
            </a:r>
            <a:endParaRPr lang="en-US" sz="1100"/>
          </a:p>
        </p:txBody>
      </p:sp>
      <p:sp>
        <p:nvSpPr>
          <p:cNvPr id="24" name="AutoShape 24"/>
          <p:cNvSpPr/>
          <p:nvPr/>
        </p:nvSpPr>
        <p:spPr>
          <a:xfrm>
            <a:off x="6604000" y="2984500"/>
            <a:ext cx="46355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E0E6F0"/>
                </a:solidFill>
                <a:latin typeface="Noto Sans SC"/>
                <a:ea typeface="Noto Sans SC"/>
                <a:cs typeface="Noto Sans SC"/>
                <a:sym typeface="Noto Sans SC"/>
              </a:rPr>
              <a:t>处理 API 返回的响应数据时，系统抛出 UnicodeDecodeError，中文、特殊符号等非 ASCII 字符出现乱码，数据解析流程中断。</a:t>
            </a:r>
            <a:endParaRPr lang="en-US" sz="1100"/>
          </a:p>
        </p:txBody>
      </p:sp>
      <p:sp>
        <p:nvSpPr>
          <p:cNvPr id="25" name="AutoShape 25"/>
          <p:cNvSpPr/>
          <p:nvPr/>
        </p:nvSpPr>
        <p:spPr>
          <a:xfrm>
            <a:off x="6477000" y="3810000"/>
            <a:ext cx="4889500" cy="952500"/>
          </a:xfrm>
          <a:prstGeom prst="roundRect">
            <a:avLst>
              <a:gd name="adj" fmla="val 0"/>
            </a:avLst>
          </a:prstGeom>
          <a:solidFill>
            <a:srgbClr val="FFFFFF">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604000" y="3873500"/>
            <a:ext cx="4635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59E0B"/>
                </a:solidFill>
                <a:latin typeface="Noto Sans SC"/>
                <a:ea typeface="Noto Sans SC"/>
                <a:cs typeface="Noto Sans SC"/>
                <a:sym typeface="Noto Sans SC"/>
              </a:rPr>
              <a:t>根因分析：</a:t>
            </a:r>
            <a:endParaRPr lang="en-US" sz="1100"/>
          </a:p>
        </p:txBody>
      </p:sp>
      <p:sp>
        <p:nvSpPr>
          <p:cNvPr id="27" name="AutoShape 27"/>
          <p:cNvSpPr/>
          <p:nvPr/>
        </p:nvSpPr>
        <p:spPr>
          <a:xfrm>
            <a:off x="6604000" y="4216400"/>
            <a:ext cx="46355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E0E6F0"/>
                </a:solidFill>
                <a:latin typeface="Noto Sans SC"/>
                <a:ea typeface="Noto Sans SC"/>
                <a:cs typeface="Noto Sans SC"/>
                <a:sym typeface="Noto Sans SC"/>
              </a:rPr>
              <a:t>系统环境默认使用 latin-1 编码去解码实际为 UTF-8 格式的内容，字符集不匹配导致字节序列无法正确映射为字符串。</a:t>
            </a:r>
            <a:endParaRPr lang="en-US" sz="1100"/>
          </a:p>
        </p:txBody>
      </p:sp>
      <p:sp>
        <p:nvSpPr>
          <p:cNvPr id="28" name="AutoShape 28"/>
          <p:cNvSpPr/>
          <p:nvPr/>
        </p:nvSpPr>
        <p:spPr>
          <a:xfrm>
            <a:off x="6477000" y="4889500"/>
            <a:ext cx="4889500" cy="1270000"/>
          </a:xfrm>
          <a:prstGeom prst="roundRect">
            <a:avLst>
              <a:gd name="adj" fmla="val 0"/>
            </a:avLst>
          </a:prstGeom>
          <a:solidFill>
            <a:srgbClr val="F59E0B">
              <a:alpha val="15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6604000" y="4927600"/>
            <a:ext cx="4635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4D399"/>
                </a:solidFill>
                <a:latin typeface="Noto Sans SC"/>
                <a:ea typeface="Noto Sans SC"/>
                <a:cs typeface="Noto Sans SC"/>
                <a:sym typeface="Noto Sans SC"/>
              </a:rPr>
              <a:t>技术应对方案：</a:t>
            </a:r>
            <a:endParaRPr lang="en-US" sz="1100"/>
          </a:p>
        </p:txBody>
      </p:sp>
      <p:sp>
        <p:nvSpPr>
          <p:cNvPr id="30" name="AutoShape 30"/>
          <p:cNvSpPr/>
          <p:nvPr/>
        </p:nvSpPr>
        <p:spPr>
          <a:xfrm>
            <a:off x="6604000" y="5308600"/>
            <a:ext cx="4635500" cy="825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BF2FA"/>
                </a:solidFill>
                <a:latin typeface="Noto Sans SC"/>
                <a:ea typeface="Noto Sans SC"/>
                <a:cs typeface="Noto Sans SC"/>
                <a:sym typeface="Noto Sans SC"/>
              </a:rPr>
              <a:t>在请求头中强制指定接收 UTF-8 编码，并标准化使用 Python 内置 json 模块进行数据处理。利用模块原生的 Unicode 处理能力，自动完成字符集转换，彻底规避手动编解码带来的兼容性风险。</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03 问题与解决方案</a:t>
            </a:r>
            <a:endParaRPr lang="en-US" sz="1100"/>
          </a:p>
        </p:txBody>
      </p:sp>
      <p:sp>
        <p:nvSpPr>
          <p:cNvPr id="4" name="AutoShape 4"/>
          <p:cNvSpPr/>
          <p:nvPr/>
        </p:nvSpPr>
        <p:spPr>
          <a:xfrm>
            <a:off x="762000" y="1524000"/>
            <a:ext cx="5207000" cy="4699000"/>
          </a:xfrm>
          <a:prstGeom prst="roundRect">
            <a:avLst>
              <a:gd name="adj" fmla="val 0"/>
            </a:avLst>
          </a:prstGeom>
          <a:solidFill>
            <a:srgbClr val="0F172A">
              <a:alpha val="82000"/>
            </a:srgbClr>
          </a:solidFill>
          <a:ln w="12700" cap="flat" cmpd="sng">
            <a:solidFill>
              <a:srgbClr val="4A90E2">
                <a:alpha val="6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7145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问题三：页面UI过于简单</a:t>
            </a:r>
            <a:endParaRPr lang="en-US" sz="1100"/>
          </a:p>
        </p:txBody>
      </p:sp>
      <p:sp>
        <p:nvSpPr>
          <p:cNvPr id="6" name="AutoShape 6"/>
          <p:cNvSpPr/>
          <p:nvPr/>
        </p:nvSpPr>
        <p:spPr>
          <a:xfrm>
            <a:off x="952500" y="2413000"/>
            <a:ext cx="4826000" cy="13335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79500" y="2476500"/>
            <a:ext cx="4572000" cy="5334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a:solidFill>
                  <a:srgbClr val="E5E7EB"/>
                </a:solidFill>
                <a:latin typeface="Noto Sans SC"/>
                <a:ea typeface="Noto Sans SC"/>
                <a:cs typeface="Noto Sans SC"/>
                <a:sym typeface="Noto Sans SC"/>
              </a:rPr>
              <a:t>现象：</a:t>
            </a:r>
            <a:r>
              <a:rPr lang="en-US" sz="1300" b="0" i="0" u="none" strike="noStrike">
                <a:solidFill>
                  <a:srgbClr val="E5E7EB"/>
                </a:solidFill>
                <a:latin typeface="Noto Sans SC"/>
                <a:ea typeface="Noto Sans SC"/>
                <a:cs typeface="Noto Sans SC"/>
                <a:sym typeface="Noto Sans SC"/>
              </a:rPr>
              <a:t>初期页面缺乏导航系统与现代视觉设计，功能模块边界模糊，用户操作路径不直观，整体体验仅停留在基础可用阶段。</a:t>
            </a:r>
            <a:endParaRPr lang="en-US" sz="1100"/>
          </a:p>
        </p:txBody>
      </p:sp>
      <p:sp>
        <p:nvSpPr>
          <p:cNvPr id="8" name="AutoShape 8"/>
          <p:cNvSpPr/>
          <p:nvPr/>
        </p:nvSpPr>
        <p:spPr>
          <a:xfrm>
            <a:off x="1079500" y="3073400"/>
            <a:ext cx="4572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a:solidFill>
                  <a:srgbClr val="BAC4D3"/>
                </a:solidFill>
                <a:latin typeface="Noto Sans SC"/>
                <a:ea typeface="Noto Sans SC"/>
                <a:cs typeface="Noto Sans SC"/>
                <a:sym typeface="Noto Sans SC"/>
              </a:rPr>
              <a:t>根源：</a:t>
            </a:r>
            <a:r>
              <a:rPr lang="en-US" sz="1300" b="0" i="0" u="none" strike="noStrike">
                <a:solidFill>
                  <a:srgbClr val="BAC4D3"/>
                </a:solidFill>
                <a:latin typeface="Noto Sans SC"/>
                <a:ea typeface="Noto Sans SC"/>
                <a:cs typeface="Noto Sans SC"/>
                <a:sym typeface="Noto Sans SC"/>
              </a:rPr>
              <a:t>开发重心过度偏向后端业务逻辑实现，资源向核心功能倾斜，前期忽视了前端界面的“产品化”与用户体验打磨。</a:t>
            </a:r>
            <a:endParaRPr lang="en-US" sz="1100"/>
          </a:p>
        </p:txBody>
      </p:sp>
      <p:sp>
        <p:nvSpPr>
          <p:cNvPr id="9" name="AutoShape 9"/>
          <p:cNvSpPr/>
          <p:nvPr/>
        </p:nvSpPr>
        <p:spPr>
          <a:xfrm>
            <a:off x="952500" y="3937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CC00"/>
                </a:solidFill>
                <a:latin typeface="Noto Sans SC"/>
                <a:ea typeface="Noto Sans SC"/>
                <a:cs typeface="Noto Sans SC"/>
                <a:sym typeface="Noto Sans SC"/>
              </a:rPr>
              <a:t>核心升级方案</a:t>
            </a:r>
            <a:endParaRPr lang="en-US" sz="1100"/>
          </a:p>
        </p:txBody>
      </p:sp>
      <p:sp>
        <p:nvSpPr>
          <p:cNvPr id="10" name="AutoShape 10"/>
          <p:cNvSpPr/>
          <p:nvPr/>
        </p:nvSpPr>
        <p:spPr>
          <a:xfrm>
            <a:off x="952500" y="4445000"/>
            <a:ext cx="1549400" cy="1651000"/>
          </a:xfrm>
          <a:prstGeom prst="roundRect">
            <a:avLst>
              <a:gd name="adj" fmla="val 0"/>
            </a:avLst>
          </a:prstGeom>
          <a:solidFill>
            <a:srgbClr val="4A90E2">
              <a:alpha val="15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16000" y="4546600"/>
            <a:ext cx="1422400" cy="330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a:ea typeface="Noto Sans SC"/>
                <a:cs typeface="Noto Sans SC"/>
                <a:sym typeface="Noto Sans SC"/>
              </a:rPr>
              <a:t>平台化布局</a:t>
            </a:r>
            <a:endParaRPr lang="en-US" sz="1100"/>
          </a:p>
        </p:txBody>
      </p:sp>
      <p:sp>
        <p:nvSpPr>
          <p:cNvPr id="12" name="AutoShape 12"/>
          <p:cNvSpPr/>
          <p:nvPr/>
        </p:nvSpPr>
        <p:spPr>
          <a:xfrm>
            <a:off x="1016000" y="4953000"/>
            <a:ext cx="14224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D1D5DB"/>
                </a:solidFill>
                <a:latin typeface="Noto Sans SC"/>
                <a:ea typeface="Noto Sans SC"/>
                <a:cs typeface="Noto Sans SC"/>
                <a:sym typeface="Noto Sans SC"/>
              </a:rPr>
              <a:t>引入左侧导航栏重构信息架构，让用户能快速在不同功能模块间无感切换。</a:t>
            </a:r>
            <a:endParaRPr lang="en-US" sz="1100"/>
          </a:p>
        </p:txBody>
      </p:sp>
      <p:sp>
        <p:nvSpPr>
          <p:cNvPr id="13" name="AutoShape 13"/>
          <p:cNvSpPr/>
          <p:nvPr/>
        </p:nvSpPr>
        <p:spPr>
          <a:xfrm>
            <a:off x="2603500" y="4445000"/>
            <a:ext cx="1549400" cy="1651000"/>
          </a:xfrm>
          <a:prstGeom prst="roundRect">
            <a:avLst>
              <a:gd name="adj" fmla="val 0"/>
            </a:avLst>
          </a:prstGeom>
          <a:solidFill>
            <a:srgbClr val="4A90E2">
              <a:alpha val="15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2667000" y="4546600"/>
            <a:ext cx="1422400" cy="330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a:ea typeface="Noto Sans SC"/>
                <a:cs typeface="Noto Sans SC"/>
                <a:sym typeface="Noto Sans SC"/>
              </a:rPr>
              <a:t>卡片式设计</a:t>
            </a:r>
            <a:endParaRPr lang="en-US" sz="1100"/>
          </a:p>
        </p:txBody>
      </p:sp>
      <p:sp>
        <p:nvSpPr>
          <p:cNvPr id="15" name="AutoShape 15"/>
          <p:cNvSpPr/>
          <p:nvPr/>
        </p:nvSpPr>
        <p:spPr>
          <a:xfrm>
            <a:off x="2667000" y="4953000"/>
            <a:ext cx="14224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D1D5DB"/>
                </a:solidFill>
                <a:latin typeface="Noto Sans SC"/>
                <a:ea typeface="Noto Sans SC"/>
                <a:cs typeface="Noto Sans SC"/>
                <a:sym typeface="Noto Sans SC"/>
              </a:rPr>
              <a:t>内容模块化封装，通过留白与分割线增加页面呼吸感，显著提升内容可读性。</a:t>
            </a:r>
            <a:endParaRPr lang="en-US" sz="1100"/>
          </a:p>
        </p:txBody>
      </p:sp>
      <p:sp>
        <p:nvSpPr>
          <p:cNvPr id="16" name="AutoShape 16"/>
          <p:cNvSpPr/>
          <p:nvPr/>
        </p:nvSpPr>
        <p:spPr>
          <a:xfrm>
            <a:off x="4254500" y="4445000"/>
            <a:ext cx="1549400" cy="1651000"/>
          </a:xfrm>
          <a:prstGeom prst="roundRect">
            <a:avLst>
              <a:gd name="adj" fmla="val 0"/>
            </a:avLst>
          </a:prstGeom>
          <a:solidFill>
            <a:srgbClr val="4A90E2">
              <a:alpha val="15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318000" y="4546600"/>
            <a:ext cx="1422400" cy="330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a:ea typeface="Noto Sans SC"/>
                <a:cs typeface="Noto Sans SC"/>
                <a:sym typeface="Noto Sans SC"/>
              </a:rPr>
              <a:t>现代化质感</a:t>
            </a:r>
            <a:endParaRPr lang="en-US" sz="1100"/>
          </a:p>
        </p:txBody>
      </p:sp>
      <p:sp>
        <p:nvSpPr>
          <p:cNvPr id="18" name="AutoShape 18"/>
          <p:cNvSpPr/>
          <p:nvPr/>
        </p:nvSpPr>
        <p:spPr>
          <a:xfrm>
            <a:off x="4318000" y="4953000"/>
            <a:ext cx="14224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D1D5DB"/>
                </a:solidFill>
                <a:latin typeface="Noto Sans SC"/>
                <a:ea typeface="Noto Sans SC"/>
                <a:cs typeface="Noto Sans SC"/>
                <a:sym typeface="Noto Sans SC"/>
              </a:rPr>
              <a:t>应用渐变色彩、微阴影与圆角元素，打造符合当下审美的科技教育产品视觉风格。</a:t>
            </a:r>
            <a:endParaRPr lang="en-US" sz="1100"/>
          </a:p>
        </p:txBody>
      </p:sp>
      <p:cxnSp>
        <p:nvCxnSpPr>
          <p:cNvPr id="19" name="Connector 19"/>
          <p:cNvCxnSpPr/>
          <p:nvPr/>
        </p:nvCxnSpPr>
        <p:spPr>
          <a:xfrm rot="5390708">
            <a:off x="3746500" y="3867159"/>
            <a:ext cx="4699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0" name="AutoShape 20"/>
          <p:cNvSpPr/>
          <p:nvPr/>
        </p:nvSpPr>
        <p:spPr>
          <a:xfrm>
            <a:off x="6223000" y="1524000"/>
            <a:ext cx="5207000" cy="4699000"/>
          </a:xfrm>
          <a:prstGeom prst="roundRect">
            <a:avLst>
              <a:gd name="adj" fmla="val 0"/>
            </a:avLst>
          </a:prstGeom>
          <a:solidFill>
            <a:srgbClr val="0F172A">
              <a:alpha val="82000"/>
            </a:srgbClr>
          </a:solidFill>
          <a:ln w="12700" cap="flat" cmpd="sng">
            <a:solidFill>
              <a:srgbClr val="4A90E2">
                <a:alpha val="6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413500" y="17145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问题四：AI回答格式混乱</a:t>
            </a:r>
            <a:endParaRPr lang="en-US" sz="1100"/>
          </a:p>
        </p:txBody>
      </p:sp>
      <p:sp>
        <p:nvSpPr>
          <p:cNvPr id="22" name="AutoShape 22"/>
          <p:cNvSpPr/>
          <p:nvPr/>
        </p:nvSpPr>
        <p:spPr>
          <a:xfrm>
            <a:off x="6413500" y="2413000"/>
            <a:ext cx="4826000" cy="13335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540500" y="2476500"/>
            <a:ext cx="4572000" cy="5334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a:solidFill>
                  <a:srgbClr val="E5E7EB"/>
                </a:solidFill>
                <a:latin typeface="Noto Sans SC"/>
                <a:ea typeface="Noto Sans SC"/>
                <a:cs typeface="Noto Sans SC"/>
                <a:sym typeface="Noto Sans SC"/>
              </a:rPr>
              <a:t>现象：</a:t>
            </a:r>
            <a:r>
              <a:rPr lang="en-US" sz="1300" b="0" i="0" u="none" strike="noStrike">
                <a:solidFill>
                  <a:srgbClr val="E5E7EB"/>
                </a:solidFill>
                <a:latin typeface="Noto Sans SC"/>
                <a:ea typeface="Noto Sans SC"/>
                <a:cs typeface="Noto Sans SC"/>
                <a:sym typeface="Noto Sans SC"/>
              </a:rPr>
              <a:t>AI返回的原始内容格式各异，包含纯文本、无序列表等多种形式，前端难以直接解析并渲染成统一、整洁的用户界面。</a:t>
            </a:r>
            <a:endParaRPr lang="en-US" sz="1100"/>
          </a:p>
        </p:txBody>
      </p:sp>
      <p:sp>
        <p:nvSpPr>
          <p:cNvPr id="24" name="AutoShape 24"/>
          <p:cNvSpPr/>
          <p:nvPr/>
        </p:nvSpPr>
        <p:spPr>
          <a:xfrm>
            <a:off x="6540500" y="3073400"/>
            <a:ext cx="4572000" cy="57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1" i="0" u="none" strike="noStrike">
                <a:solidFill>
                  <a:srgbClr val="BAC4D3"/>
                </a:solidFill>
                <a:latin typeface="Noto Sans SC"/>
                <a:ea typeface="Noto Sans SC"/>
                <a:cs typeface="Noto Sans SC"/>
                <a:sym typeface="Noto Sans SC"/>
              </a:rPr>
              <a:t>根源：</a:t>
            </a:r>
            <a:r>
              <a:rPr lang="en-US" sz="1300" b="0" i="0" u="none" strike="noStrike">
                <a:solidFill>
                  <a:srgbClr val="BAC4D3"/>
                </a:solidFill>
                <a:latin typeface="Noto Sans SC"/>
                <a:ea typeface="Noto Sans SC"/>
                <a:cs typeface="Noto Sans SC"/>
                <a:sym typeface="Noto Sans SC"/>
              </a:rPr>
              <a:t>Prompt指令缺乏明确的格式约束，未能形成标准化的输出协议，导致模型生成结果自由度高，一致性难以保障。</a:t>
            </a:r>
            <a:endParaRPr lang="en-US" sz="1100"/>
          </a:p>
        </p:txBody>
      </p:sp>
      <p:sp>
        <p:nvSpPr>
          <p:cNvPr id="25" name="AutoShape 25"/>
          <p:cNvSpPr/>
          <p:nvPr/>
        </p:nvSpPr>
        <p:spPr>
          <a:xfrm>
            <a:off x="6413500" y="3937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CC00"/>
                </a:solidFill>
                <a:latin typeface="Noto Sans SC"/>
                <a:ea typeface="Noto Sans SC"/>
                <a:cs typeface="Noto Sans SC"/>
                <a:sym typeface="Noto Sans SC"/>
              </a:rPr>
              <a:t>标准化治理方案</a:t>
            </a:r>
            <a:endParaRPr lang="en-US" sz="1100"/>
          </a:p>
        </p:txBody>
      </p:sp>
      <p:sp>
        <p:nvSpPr>
          <p:cNvPr id="26" name="AutoShape 26"/>
          <p:cNvSpPr/>
          <p:nvPr/>
        </p:nvSpPr>
        <p:spPr>
          <a:xfrm>
            <a:off x="6413500" y="4445000"/>
            <a:ext cx="2387600" cy="1651000"/>
          </a:xfrm>
          <a:prstGeom prst="roundRect">
            <a:avLst>
              <a:gd name="adj" fmla="val 0"/>
            </a:avLst>
          </a:prstGeom>
          <a:solidFill>
            <a:srgbClr val="4A90E2">
              <a:alpha val="15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540500" y="4546600"/>
            <a:ext cx="2133600" cy="330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a:ea typeface="Noto Sans SC"/>
                <a:cs typeface="Noto Sans SC"/>
                <a:sym typeface="Noto Sans SC"/>
              </a:rPr>
              <a:t>结构化 Prompt 定义</a:t>
            </a:r>
            <a:endParaRPr lang="en-US" sz="1100"/>
          </a:p>
        </p:txBody>
      </p:sp>
      <p:sp>
        <p:nvSpPr>
          <p:cNvPr id="28" name="AutoShape 28"/>
          <p:cNvSpPr/>
          <p:nvPr/>
        </p:nvSpPr>
        <p:spPr>
          <a:xfrm>
            <a:off x="6540500" y="4953000"/>
            <a:ext cx="21336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D1D5DB"/>
                </a:solidFill>
                <a:latin typeface="Noto Sans SC"/>
                <a:ea typeface="Noto Sans SC"/>
                <a:cs typeface="Noto Sans SC"/>
                <a:sym typeface="Noto Sans SC"/>
              </a:rPr>
              <a:t>在指令层明确要求AI以JSON等机器可读格式返回结果，从生成源头建立统一的数据标准，减少后续处理成本。</a:t>
            </a:r>
            <a:endParaRPr lang="en-US" sz="1100"/>
          </a:p>
        </p:txBody>
      </p:sp>
      <p:sp>
        <p:nvSpPr>
          <p:cNvPr id="29" name="AutoShape 29"/>
          <p:cNvSpPr/>
          <p:nvPr/>
        </p:nvSpPr>
        <p:spPr>
          <a:xfrm>
            <a:off x="8915400" y="4445000"/>
            <a:ext cx="2387600" cy="1651000"/>
          </a:xfrm>
          <a:prstGeom prst="roundRect">
            <a:avLst>
              <a:gd name="adj" fmla="val 0"/>
            </a:avLst>
          </a:prstGeom>
          <a:solidFill>
            <a:srgbClr val="4A90E2">
              <a:alpha val="15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9042400" y="4546600"/>
            <a:ext cx="2133600" cy="330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a:ea typeface="Noto Sans SC"/>
                <a:cs typeface="Noto Sans SC"/>
                <a:sym typeface="Noto Sans SC"/>
              </a:rPr>
              <a:t>后端解析与适配</a:t>
            </a:r>
            <a:endParaRPr lang="en-US" sz="1100"/>
          </a:p>
        </p:txBody>
      </p:sp>
      <p:sp>
        <p:nvSpPr>
          <p:cNvPr id="31" name="AutoShape 31"/>
          <p:cNvSpPr/>
          <p:nvPr/>
        </p:nvSpPr>
        <p:spPr>
          <a:xfrm>
            <a:off x="9042400" y="4953000"/>
            <a:ext cx="21336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D1D5DB"/>
                </a:solidFill>
                <a:latin typeface="Noto Sans SC"/>
                <a:ea typeface="Noto Sans SC"/>
                <a:cs typeface="Noto Sans SC"/>
                <a:sym typeface="Noto Sans SC"/>
              </a:rPr>
              <a:t>服务端增加统一的格式化层，对原始响应进行清洗和结构化转换，输出前端可直接渲染的标准数据，实现前后端解耦。</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F28">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651000"/>
            <a:ext cx="12192000" cy="279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0" b="1" i="0" u="none" strike="noStrike">
                <a:solidFill>
                  <a:srgbClr val="FFFFFF">
                    <a:alpha val="30196"/>
                  </a:srgbClr>
                </a:solidFill>
                <a:latin typeface="Noto Sans SC"/>
                <a:ea typeface="Noto Sans SC"/>
                <a:cs typeface="Noto Sans SC"/>
                <a:sym typeface="Noto Sans SC"/>
              </a:rPr>
              <a:t>04</a:t>
            </a:r>
            <a:endParaRPr lang="en-US" sz="1100"/>
          </a:p>
        </p:txBody>
      </p:sp>
      <p:sp>
        <p:nvSpPr>
          <p:cNvPr id="4" name="AutoShape 4"/>
          <p:cNvSpPr/>
          <p:nvPr/>
        </p:nvSpPr>
        <p:spPr>
          <a:xfrm>
            <a:off x="0" y="4572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系统架构与实现</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04 系统架构与实现</a:t>
            </a:r>
            <a:endParaRPr lang="en-US" sz="1100"/>
          </a:p>
        </p:txBody>
      </p:sp>
      <p:sp>
        <p:nvSpPr>
          <p:cNvPr id="4" name="AutoShape 4"/>
          <p:cNvSpPr/>
          <p:nvPr/>
        </p:nvSpPr>
        <p:spPr>
          <a:xfrm>
            <a:off x="762000" y="1524000"/>
            <a:ext cx="10668000" cy="1270000"/>
          </a:xfrm>
          <a:prstGeom prst="roundRect">
            <a:avLst>
              <a:gd name="adj" fmla="val 0"/>
            </a:avLst>
          </a:prstGeom>
          <a:solidFill>
            <a:srgbClr val="FFFFFF">
              <a:alpha val="8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a:stretch>
            <a:fillRect/>
          </a:stretch>
        </p:blipFill>
        <p:spPr>
          <a:xfrm>
            <a:off x="952500" y="1625600"/>
            <a:ext cx="698500" cy="698500"/>
          </a:xfrm>
          <a:prstGeom prst="rect">
            <a:avLst/>
          </a:prstGeom>
          <a:noFill/>
          <a:ln w="25400" cap="flat" cmpd="sng">
            <a:noFill/>
            <a:prstDash val="solid"/>
            <a:round/>
          </a:ln>
        </p:spPr>
      </p:pic>
      <p:sp>
        <p:nvSpPr>
          <p:cNvPr id="6" name="AutoShape 6"/>
          <p:cNvSpPr/>
          <p:nvPr/>
        </p:nvSpPr>
        <p:spPr>
          <a:xfrm>
            <a:off x="1714500" y="1625600"/>
            <a:ext cx="1397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HTML</a:t>
            </a:r>
            <a:endParaRPr lang="en-US" sz="1100"/>
          </a:p>
          <a:p>
            <a:pPr indent="0" algn="l">
              <a:lnSpc>
                <a:spcPct val="125000"/>
              </a:lnSpc>
            </a:pPr>
            <a:r>
              <a:rPr lang="en-US" sz="1100" b="0" i="0" u="none" strike="noStrike">
                <a:solidFill>
                  <a:srgbClr val="C8D2E6"/>
                </a:solidFill>
                <a:latin typeface="Noto Sans SC"/>
                <a:ea typeface="Noto Sans SC"/>
                <a:cs typeface="Noto Sans SC"/>
                <a:sym typeface="Noto Sans SC"/>
              </a:rPr>
              <a:t>结构化页面基础</a:t>
            </a:r>
          </a:p>
        </p:txBody>
      </p:sp>
      <p:cxnSp>
        <p:nvCxnSpPr>
          <p:cNvPr id="7" name="Connector 7"/>
          <p:cNvCxnSpPr/>
          <p:nvPr/>
        </p:nvCxnSpPr>
        <p:spPr>
          <a:xfrm rot="5347115">
            <a:off x="2825750" y="2120949"/>
            <a:ext cx="825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pic>
        <p:nvPicPr>
          <p:cNvPr id="8" name="Picture 8"/>
          <p:cNvPicPr>
            <a:picLocks noChangeAspect="1"/>
          </p:cNvPicPr>
          <p:nvPr/>
        </p:nvPicPr>
        <p:blipFill>
          <a:blip r:embed="rId5"/>
          <a:srcRect/>
          <a:stretch>
            <a:fillRect/>
          </a:stretch>
        </p:blipFill>
        <p:spPr>
          <a:xfrm>
            <a:off x="3365500" y="1625600"/>
            <a:ext cx="698500" cy="698500"/>
          </a:xfrm>
          <a:prstGeom prst="rect">
            <a:avLst/>
          </a:prstGeom>
          <a:noFill/>
          <a:ln w="25400" cap="flat" cmpd="sng">
            <a:noFill/>
            <a:prstDash val="solid"/>
            <a:round/>
          </a:ln>
        </p:spPr>
      </p:pic>
      <p:sp>
        <p:nvSpPr>
          <p:cNvPr id="9" name="AutoShape 9"/>
          <p:cNvSpPr/>
          <p:nvPr/>
        </p:nvSpPr>
        <p:spPr>
          <a:xfrm>
            <a:off x="4127500" y="1625600"/>
            <a:ext cx="1397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CSS</a:t>
            </a:r>
            <a:endParaRPr lang="en-US" sz="1100"/>
          </a:p>
          <a:p>
            <a:pPr indent="0" algn="l">
              <a:lnSpc>
                <a:spcPct val="125000"/>
              </a:lnSpc>
            </a:pPr>
            <a:r>
              <a:rPr lang="en-US" sz="1100" b="0" i="0" u="none" strike="noStrike">
                <a:solidFill>
                  <a:srgbClr val="C8D2E6"/>
                </a:solidFill>
                <a:latin typeface="Noto Sans SC"/>
                <a:ea typeface="Noto Sans SC"/>
                <a:cs typeface="Noto Sans SC"/>
                <a:sym typeface="Noto Sans SC"/>
              </a:rPr>
              <a:t>视觉样式呈现</a:t>
            </a:r>
          </a:p>
        </p:txBody>
      </p:sp>
      <p:cxnSp>
        <p:nvCxnSpPr>
          <p:cNvPr id="10" name="Connector 10"/>
          <p:cNvCxnSpPr/>
          <p:nvPr/>
        </p:nvCxnSpPr>
        <p:spPr>
          <a:xfrm rot="5347115">
            <a:off x="5111750" y="2120949"/>
            <a:ext cx="825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pic>
        <p:nvPicPr>
          <p:cNvPr id="11" name="Picture 11"/>
          <p:cNvPicPr>
            <a:picLocks noChangeAspect="1"/>
          </p:cNvPicPr>
          <p:nvPr/>
        </p:nvPicPr>
        <p:blipFill>
          <a:blip r:embed="rId6"/>
          <a:srcRect l="21141" r="21141"/>
          <a:stretch>
            <a:fillRect/>
          </a:stretch>
        </p:blipFill>
        <p:spPr>
          <a:xfrm>
            <a:off x="5651500" y="1625600"/>
            <a:ext cx="698500" cy="698500"/>
          </a:xfrm>
          <a:prstGeom prst="rect">
            <a:avLst/>
          </a:prstGeom>
          <a:noFill/>
          <a:ln w="25400" cap="flat" cmpd="sng">
            <a:noFill/>
            <a:prstDash val="solid"/>
            <a:round/>
          </a:ln>
        </p:spPr>
      </p:pic>
      <p:sp>
        <p:nvSpPr>
          <p:cNvPr id="12" name="AutoShape 12"/>
          <p:cNvSpPr/>
          <p:nvPr/>
        </p:nvSpPr>
        <p:spPr>
          <a:xfrm>
            <a:off x="6477000" y="1625600"/>
            <a:ext cx="1397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JavaScript</a:t>
            </a:r>
            <a:endParaRPr lang="en-US" sz="1100"/>
          </a:p>
          <a:p>
            <a:pPr indent="0" algn="l">
              <a:lnSpc>
                <a:spcPct val="125000"/>
              </a:lnSpc>
            </a:pPr>
            <a:r>
              <a:rPr lang="en-US" sz="1100" b="0" i="0" u="none" strike="noStrike">
                <a:solidFill>
                  <a:srgbClr val="C8D2E6"/>
                </a:solidFill>
                <a:latin typeface="Noto Sans SC"/>
                <a:ea typeface="Noto Sans SC"/>
                <a:cs typeface="Noto Sans SC"/>
                <a:sym typeface="Noto Sans SC"/>
              </a:rPr>
              <a:t>动态交互逻辑</a:t>
            </a:r>
          </a:p>
        </p:txBody>
      </p:sp>
      <p:cxnSp>
        <p:nvCxnSpPr>
          <p:cNvPr id="13" name="Connector 13"/>
          <p:cNvCxnSpPr/>
          <p:nvPr/>
        </p:nvCxnSpPr>
        <p:spPr>
          <a:xfrm rot="5347115">
            <a:off x="7588250" y="2120949"/>
            <a:ext cx="8255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pic>
        <p:nvPicPr>
          <p:cNvPr id="14" name="Picture 14"/>
          <p:cNvPicPr>
            <a:picLocks noChangeAspect="1"/>
          </p:cNvPicPr>
          <p:nvPr/>
        </p:nvPicPr>
        <p:blipFill>
          <a:blip r:embed="rId7"/>
          <a:srcRect/>
          <a:stretch>
            <a:fillRect/>
          </a:stretch>
        </p:blipFill>
        <p:spPr>
          <a:xfrm>
            <a:off x="8064500" y="1625600"/>
            <a:ext cx="698500" cy="698500"/>
          </a:xfrm>
          <a:prstGeom prst="rect">
            <a:avLst/>
          </a:prstGeom>
          <a:noFill/>
          <a:ln w="25400" cap="flat" cmpd="sng">
            <a:noFill/>
            <a:prstDash val="solid"/>
            <a:round/>
          </a:ln>
        </p:spPr>
      </p:pic>
      <p:sp>
        <p:nvSpPr>
          <p:cNvPr id="15" name="AutoShape 15"/>
          <p:cNvSpPr/>
          <p:nvPr/>
        </p:nvSpPr>
        <p:spPr>
          <a:xfrm>
            <a:off x="8890000" y="1625600"/>
            <a:ext cx="22225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Python / Flask</a:t>
            </a:r>
            <a:endParaRPr lang="en-US" sz="1100"/>
          </a:p>
          <a:p>
            <a:pPr indent="0" algn="l">
              <a:lnSpc>
                <a:spcPct val="125000"/>
              </a:lnSpc>
            </a:pPr>
            <a:r>
              <a:rPr lang="en-US" sz="1100" b="0" i="0" u="none" strike="noStrike">
                <a:solidFill>
                  <a:srgbClr val="C8D2E6"/>
                </a:solidFill>
                <a:latin typeface="Noto Sans SC"/>
                <a:ea typeface="Noto Sans SC"/>
                <a:cs typeface="Noto Sans SC"/>
                <a:sym typeface="Noto Sans SC"/>
              </a:rPr>
              <a:t>后端服务核心框架</a:t>
            </a:r>
          </a:p>
        </p:txBody>
      </p:sp>
      <p:sp>
        <p:nvSpPr>
          <p:cNvPr id="16" name="AutoShape 16"/>
          <p:cNvSpPr/>
          <p:nvPr/>
        </p:nvSpPr>
        <p:spPr>
          <a:xfrm>
            <a:off x="762000" y="3048000"/>
            <a:ext cx="3467100" cy="1714500"/>
          </a:xfrm>
          <a:prstGeom prst="roundRect">
            <a:avLst>
              <a:gd name="adj" fmla="val 0"/>
            </a:avLst>
          </a:prstGeom>
          <a:solidFill>
            <a:srgbClr val="4A90E2">
              <a:alpha val="22000"/>
            </a:srgbClr>
          </a:solidFill>
          <a:ln w="12700" cap="flat" cmpd="sng">
            <a:solidFill>
              <a:srgbClr val="4A90E2">
                <a:alpha val="6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52500" y="3149600"/>
            <a:ext cx="311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表现层 Frontend</a:t>
            </a:r>
            <a:endParaRPr lang="en-US" sz="1100"/>
          </a:p>
        </p:txBody>
      </p:sp>
      <p:sp>
        <p:nvSpPr>
          <p:cNvPr id="18" name="AutoShape 18"/>
          <p:cNvSpPr/>
          <p:nvPr/>
        </p:nvSpPr>
        <p:spPr>
          <a:xfrm>
            <a:off x="952500" y="3619500"/>
            <a:ext cx="31115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BF0FA"/>
                </a:solidFill>
                <a:latin typeface="Noto Sans SC"/>
                <a:ea typeface="Noto Sans SC"/>
                <a:cs typeface="Noto Sans SC"/>
                <a:sym typeface="Noto Sans SC"/>
              </a:rPr>
              <a:t>基于现代Web技术栈构建，负责用户界面的直观展示与实时交互响应。通过组件化开发，确保多终端的一致性体验，将用户操作无缝转化为后端请求。</a:t>
            </a:r>
            <a:endParaRPr lang="en-US" sz="1100"/>
          </a:p>
        </p:txBody>
      </p:sp>
      <p:sp>
        <p:nvSpPr>
          <p:cNvPr id="19" name="AutoShape 19"/>
          <p:cNvSpPr/>
          <p:nvPr/>
        </p:nvSpPr>
        <p:spPr>
          <a:xfrm>
            <a:off x="4394200" y="3048000"/>
            <a:ext cx="3467100" cy="1714500"/>
          </a:xfrm>
          <a:prstGeom prst="roundRect">
            <a:avLst>
              <a:gd name="adj" fmla="val 0"/>
            </a:avLst>
          </a:prstGeom>
          <a:solidFill>
            <a:srgbClr val="4A90E2">
              <a:alpha val="22000"/>
            </a:srgbClr>
          </a:solidFill>
          <a:ln w="12700" cap="flat" cmpd="sng">
            <a:solidFill>
              <a:srgbClr val="4A90E2">
                <a:alpha val="6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4584700" y="3149600"/>
            <a:ext cx="311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业务逻辑层 Backend</a:t>
            </a:r>
            <a:endParaRPr lang="en-US" sz="1100"/>
          </a:p>
        </p:txBody>
      </p:sp>
      <p:sp>
        <p:nvSpPr>
          <p:cNvPr id="21" name="AutoShape 21"/>
          <p:cNvSpPr/>
          <p:nvPr/>
        </p:nvSpPr>
        <p:spPr>
          <a:xfrm>
            <a:off x="4584700" y="3619500"/>
            <a:ext cx="31115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BF0FA"/>
                </a:solidFill>
                <a:latin typeface="Noto Sans SC"/>
                <a:ea typeface="Noto Sans SC"/>
                <a:cs typeface="Noto Sans SC"/>
                <a:sym typeface="Noto Sans SC"/>
              </a:rPr>
              <a:t>轻量级Flask框架作为服务基石，高效处理复杂业务流转。封装核心业务接口，承担数据校验、会话管理与业务规则执行，是连接前端与AI服务的关键中枢。</a:t>
            </a:r>
            <a:endParaRPr lang="en-US" sz="1100"/>
          </a:p>
        </p:txBody>
      </p:sp>
      <p:sp>
        <p:nvSpPr>
          <p:cNvPr id="22" name="AutoShape 22"/>
          <p:cNvSpPr/>
          <p:nvPr/>
        </p:nvSpPr>
        <p:spPr>
          <a:xfrm>
            <a:off x="8026400" y="3048000"/>
            <a:ext cx="3467100" cy="1714500"/>
          </a:xfrm>
          <a:prstGeom prst="roundRect">
            <a:avLst>
              <a:gd name="adj" fmla="val 0"/>
            </a:avLst>
          </a:prstGeom>
          <a:solidFill>
            <a:srgbClr val="4A90E2">
              <a:alpha val="22000"/>
            </a:srgbClr>
          </a:solidFill>
          <a:ln w="12700" cap="flat" cmpd="sng">
            <a:solidFill>
              <a:srgbClr val="4A90E2">
                <a:alpha val="6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216900" y="3149600"/>
            <a:ext cx="311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智能服务层 AI Service</a:t>
            </a:r>
            <a:endParaRPr lang="en-US" sz="1100"/>
          </a:p>
        </p:txBody>
      </p:sp>
      <p:sp>
        <p:nvSpPr>
          <p:cNvPr id="24" name="AutoShape 24"/>
          <p:cNvSpPr/>
          <p:nvPr/>
        </p:nvSpPr>
        <p:spPr>
          <a:xfrm>
            <a:off x="8216900" y="3619500"/>
            <a:ext cx="31115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BF0FA"/>
                </a:solidFill>
                <a:latin typeface="Noto Sans SC"/>
                <a:ea typeface="Noto Sans SC"/>
                <a:cs typeface="Noto Sans SC"/>
                <a:sym typeface="Noto Sans SC"/>
              </a:rPr>
              <a:t>深度集成Moonshot API，获取行业领先的大模型推理能力。负责自然语言的深度理解、内容生成与逻辑推理，为上层应用提供高准确度的智能决策支持。</a:t>
            </a:r>
            <a:endParaRPr lang="en-US" sz="1100"/>
          </a:p>
        </p:txBody>
      </p:sp>
      <p:sp>
        <p:nvSpPr>
          <p:cNvPr id="25" name="AutoShape 25"/>
          <p:cNvSpPr/>
          <p:nvPr/>
        </p:nvSpPr>
        <p:spPr>
          <a:xfrm>
            <a:off x="762000" y="4889500"/>
            <a:ext cx="2603500" cy="10160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89000" y="4953000"/>
            <a:ext cx="2349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4C8FF"/>
                </a:solidFill>
                <a:latin typeface="Noto Sans SC"/>
                <a:ea typeface="Noto Sans SC"/>
                <a:cs typeface="Noto Sans SC"/>
                <a:sym typeface="Noto Sans SC"/>
              </a:rPr>
              <a:t>AI智能问答</a:t>
            </a:r>
            <a:endParaRPr lang="en-US" sz="1100"/>
          </a:p>
        </p:txBody>
      </p:sp>
      <p:sp>
        <p:nvSpPr>
          <p:cNvPr id="27" name="AutoShape 27"/>
          <p:cNvSpPr/>
          <p:nvPr/>
        </p:nvSpPr>
        <p:spPr>
          <a:xfrm>
            <a:off x="889000" y="5334000"/>
            <a:ext cx="2349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D7E1F0"/>
                </a:solidFill>
                <a:latin typeface="Noto Sans SC"/>
                <a:ea typeface="Noto Sans SC"/>
                <a:cs typeface="Noto Sans SC"/>
                <a:sym typeface="Noto Sans SC"/>
              </a:rPr>
              <a:t>多轮对话引擎，精准理解用户意图并实时反馈专业解答。</a:t>
            </a:r>
            <a:endParaRPr lang="en-US" sz="1100"/>
          </a:p>
        </p:txBody>
      </p:sp>
      <p:sp>
        <p:nvSpPr>
          <p:cNvPr id="28" name="AutoShape 28"/>
          <p:cNvSpPr/>
          <p:nvPr/>
        </p:nvSpPr>
        <p:spPr>
          <a:xfrm>
            <a:off x="3467100" y="4889500"/>
            <a:ext cx="2603500" cy="10160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3594100" y="4953000"/>
            <a:ext cx="2349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4C8FF"/>
                </a:solidFill>
                <a:latin typeface="Noto Sans SC"/>
                <a:ea typeface="Noto Sans SC"/>
                <a:cs typeface="Noto Sans SC"/>
                <a:sym typeface="Noto Sans SC"/>
              </a:rPr>
              <a:t>一键报告生成</a:t>
            </a:r>
            <a:endParaRPr lang="en-US" sz="1100"/>
          </a:p>
        </p:txBody>
      </p:sp>
      <p:sp>
        <p:nvSpPr>
          <p:cNvPr id="30" name="AutoShape 30"/>
          <p:cNvSpPr/>
          <p:nvPr/>
        </p:nvSpPr>
        <p:spPr>
          <a:xfrm>
            <a:off x="3594100" y="5334000"/>
            <a:ext cx="2349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D7E1F0"/>
                </a:solidFill>
                <a:latin typeface="Noto Sans SC"/>
                <a:ea typeface="Noto Sans SC"/>
                <a:cs typeface="Noto Sans SC"/>
                <a:sym typeface="Noto Sans SC"/>
              </a:rPr>
              <a:t>数据自动聚合，生成结构化、可导出的专业分析报告。</a:t>
            </a:r>
            <a:endParaRPr lang="en-US" sz="1100"/>
          </a:p>
        </p:txBody>
      </p:sp>
      <p:sp>
        <p:nvSpPr>
          <p:cNvPr id="31" name="AutoShape 31"/>
          <p:cNvSpPr/>
          <p:nvPr/>
        </p:nvSpPr>
        <p:spPr>
          <a:xfrm>
            <a:off x="6172200" y="4889500"/>
            <a:ext cx="2603500" cy="10160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6299200" y="4953000"/>
            <a:ext cx="2349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4C8FF"/>
                </a:solidFill>
                <a:latin typeface="Noto Sans SC"/>
                <a:ea typeface="Noto Sans SC"/>
                <a:cs typeface="Noto Sans SC"/>
                <a:sym typeface="Noto Sans SC"/>
              </a:rPr>
              <a:t>历史会话回溯</a:t>
            </a:r>
            <a:endParaRPr lang="en-US" sz="1100"/>
          </a:p>
        </p:txBody>
      </p:sp>
      <p:sp>
        <p:nvSpPr>
          <p:cNvPr id="33" name="AutoShape 33"/>
          <p:cNvSpPr/>
          <p:nvPr/>
        </p:nvSpPr>
        <p:spPr>
          <a:xfrm>
            <a:off x="6299200" y="5334000"/>
            <a:ext cx="2349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D7E1F0"/>
                </a:solidFill>
                <a:latin typeface="Noto Sans SC"/>
                <a:ea typeface="Noto Sans SC"/>
                <a:cs typeface="Noto Sans SC"/>
                <a:sym typeface="Noto Sans SC"/>
              </a:rPr>
              <a:t>全流程数据持久化，支持随时查阅、复用历史交互内容。</a:t>
            </a:r>
            <a:endParaRPr lang="en-US" sz="1100"/>
          </a:p>
        </p:txBody>
      </p:sp>
      <p:sp>
        <p:nvSpPr>
          <p:cNvPr id="34" name="AutoShape 34"/>
          <p:cNvSpPr/>
          <p:nvPr/>
        </p:nvSpPr>
        <p:spPr>
          <a:xfrm>
            <a:off x="8864600" y="4889500"/>
            <a:ext cx="2603500" cy="10160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8991600" y="4953000"/>
            <a:ext cx="2349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64C8FF"/>
                </a:solidFill>
                <a:latin typeface="Noto Sans SC"/>
                <a:ea typeface="Noto Sans SC"/>
                <a:cs typeface="Noto Sans SC"/>
                <a:sym typeface="Noto Sans SC"/>
              </a:rPr>
              <a:t>智能Prompt生成</a:t>
            </a:r>
            <a:endParaRPr lang="en-US" sz="1100"/>
          </a:p>
        </p:txBody>
      </p:sp>
      <p:sp>
        <p:nvSpPr>
          <p:cNvPr id="36" name="AutoShape 36"/>
          <p:cNvSpPr/>
          <p:nvPr/>
        </p:nvSpPr>
        <p:spPr>
          <a:xfrm>
            <a:off x="8991600" y="5334000"/>
            <a:ext cx="2349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D7E1F0"/>
                </a:solidFill>
                <a:latin typeface="Noto Sans SC"/>
                <a:ea typeface="Noto Sans SC"/>
                <a:cs typeface="Noto Sans SC"/>
                <a:sym typeface="Noto Sans SC"/>
              </a:rPr>
              <a:t>动态优化指令模板，显著提升大模型响应的相关性与质量。</a:t>
            </a:r>
            <a:endParaRPr lang="en-US" sz="1100"/>
          </a:p>
        </p:txBody>
      </p:sp>
      <p:sp>
        <p:nvSpPr>
          <p:cNvPr id="37" name="AutoShape 37"/>
          <p:cNvSpPr/>
          <p:nvPr/>
        </p:nvSpPr>
        <p:spPr>
          <a:xfrm>
            <a:off x="762000" y="5969000"/>
            <a:ext cx="10706100" cy="762000"/>
          </a:xfrm>
          <a:prstGeom prst="roundRect">
            <a:avLst>
              <a:gd name="adj" fmla="val 0"/>
            </a:avLst>
          </a:prstGeom>
          <a:solidFill>
            <a:srgbClr val="001E3C">
              <a:alpha val="75000"/>
            </a:srgbClr>
          </a:solidFill>
          <a:ln w="12700" cap="flat" cmpd="sng">
            <a:solidFill>
              <a:srgbClr val="64A0E6">
                <a:alpha val="30000"/>
              </a:srgbClr>
            </a:solidFill>
            <a:prstDash val="dash"/>
            <a:round/>
          </a:ln>
        </p:spPr>
        <p:txBody>
          <a:bodyPr vert="horz" wrap="square" lIns="63500" tIns="63500" rIns="63500" bIns="63500" rtlCol="0" anchor="ctr"/>
          <a:lstStyle/>
          <a:p>
            <a:pPr algn="ctr">
              <a:defRPr/>
            </a:pPr>
            <a:endParaRPr/>
          </a:p>
        </p:txBody>
      </p:sp>
      <p:sp>
        <p:nvSpPr>
          <p:cNvPr id="38" name="AutoShape 38"/>
          <p:cNvSpPr/>
          <p:nvPr/>
        </p:nvSpPr>
        <p:spPr>
          <a:xfrm>
            <a:off x="889000" y="6032500"/>
            <a:ext cx="10414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94902"/>
                  </a:srgbClr>
                </a:solidFill>
                <a:latin typeface="Noto Sans SC"/>
                <a:ea typeface="Noto Sans SC"/>
                <a:cs typeface="Noto Sans SC"/>
                <a:sym typeface="Noto Sans SC"/>
              </a:rPr>
              <a:t>核心流程：用户输入触发前端请求 → 后端业务逻辑处理 → 智能Prompt工程 → Moonshot AI推理计算 → 结果解析与数据持久化 → 前端动态渲染呈现</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905000"/>
            <a:ext cx="12192000" cy="190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FFFFFF">
                    <a:alpha val="85098"/>
                  </a:srgbClr>
                </a:solidFill>
                <a:latin typeface="Noto Sans SC"/>
                <a:ea typeface="Noto Sans SC"/>
                <a:cs typeface="Noto Sans SC"/>
                <a:sym typeface="Noto Sans SC"/>
              </a:rPr>
              <a:t>05</a:t>
            </a:r>
            <a:endParaRPr lang="en-US" sz="1100"/>
          </a:p>
        </p:txBody>
      </p:sp>
      <p:sp>
        <p:nvSpPr>
          <p:cNvPr id="3" name="AutoShape 3"/>
          <p:cNvSpPr/>
          <p:nvPr/>
        </p:nvSpPr>
        <p:spPr>
          <a:xfrm>
            <a:off x="0" y="4064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测试工作与总结</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05 测试工作与总结</a:t>
            </a:r>
            <a:endParaRPr lang="en-US" sz="1100"/>
          </a:p>
        </p:txBody>
      </p:sp>
      <p:sp>
        <p:nvSpPr>
          <p:cNvPr id="4" name="AutoShape 4"/>
          <p:cNvSpPr/>
          <p:nvPr/>
        </p:nvSpPr>
        <p:spPr>
          <a:xfrm>
            <a:off x="762000" y="1651000"/>
            <a:ext cx="3619500" cy="2667000"/>
          </a:xfrm>
          <a:prstGeom prst="roundRect">
            <a:avLst>
              <a:gd name="adj" fmla="val 0"/>
            </a:avLst>
          </a:prstGeom>
          <a:solidFill>
            <a:srgbClr val="111827">
              <a:alpha val="8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50800" cy="26670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803400"/>
            <a:ext cx="279400" cy="279400"/>
          </a:xfrm>
          <a:prstGeom prst="rect">
            <a:avLst/>
          </a:prstGeom>
        </p:spPr>
      </p:pic>
      <p:sp>
        <p:nvSpPr>
          <p:cNvPr id="7" name="AutoShape 7"/>
          <p:cNvSpPr/>
          <p:nvPr/>
        </p:nvSpPr>
        <p:spPr>
          <a:xfrm>
            <a:off x="1333500" y="1778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核心测试内容</a:t>
            </a:r>
            <a:endParaRPr lang="en-US" sz="1100"/>
          </a:p>
        </p:txBody>
      </p:sp>
      <p:sp>
        <p:nvSpPr>
          <p:cNvPr id="8" name="AutoShape 8"/>
          <p:cNvSpPr/>
          <p:nvPr/>
        </p:nvSpPr>
        <p:spPr>
          <a:xfrm>
            <a:off x="952500" y="2286000"/>
            <a:ext cx="3238500" cy="698500"/>
          </a:xfrm>
          <a:prstGeom prst="roundRect">
            <a:avLst>
              <a:gd name="adj" fmla="val 0"/>
            </a:avLst>
          </a:prstGeom>
          <a:solidFill>
            <a:srgbClr val="4A90E2">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41400" y="2311400"/>
            <a:ext cx="3111500" cy="6604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FFFFFF"/>
                </a:solidFill>
                <a:latin typeface="Noto Sans SC"/>
                <a:ea typeface="Noto Sans SC"/>
                <a:cs typeface="Noto Sans SC"/>
                <a:sym typeface="Noto Sans SC"/>
              </a:rPr>
              <a:t>功能完整性验证</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D1D5DB"/>
                </a:solidFill>
                <a:latin typeface="Noto Sans SC"/>
                <a:ea typeface="Noto Sans SC"/>
                <a:cs typeface="Noto Sans SC"/>
                <a:sym typeface="Noto Sans SC"/>
              </a:rPr>
              <a:t>覆盖AI智能问答、报告自动生成及历史记录回溯，确保核心业务逻辑闭环无遗漏。</a:t>
            </a:r>
            <a:endParaRPr lang="en-US" sz="1100"/>
          </a:p>
        </p:txBody>
      </p:sp>
      <p:sp>
        <p:nvSpPr>
          <p:cNvPr id="10" name="AutoShape 10"/>
          <p:cNvSpPr/>
          <p:nvPr/>
        </p:nvSpPr>
        <p:spPr>
          <a:xfrm>
            <a:off x="952500" y="3048000"/>
            <a:ext cx="3238500" cy="1206500"/>
          </a:xfrm>
          <a:prstGeom prst="roundRect">
            <a:avLst>
              <a:gd name="adj" fmla="val 0"/>
            </a:avLst>
          </a:prstGeom>
          <a:solidFill>
            <a:srgbClr val="4A90E2">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41400" y="3073400"/>
            <a:ext cx="31115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FFFFFF"/>
                </a:solidFill>
                <a:latin typeface="Noto Sans SC"/>
                <a:ea typeface="Noto Sans SC"/>
                <a:cs typeface="Noto Sans SC"/>
                <a:sym typeface="Noto Sans SC"/>
              </a:rPr>
              <a:t>接口与异常边界测试</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D1D5DB"/>
                </a:solidFill>
                <a:latin typeface="Noto Sans SC"/>
                <a:ea typeface="Noto Sans SC"/>
                <a:cs typeface="Noto Sans SC"/>
                <a:sym typeface="Noto Sans SC"/>
              </a:rPr>
              <a:t>Postman全链路接口联调，模拟断网、密钥失效等极端场景，验证系统容错机制，确保异常情况下的鲁棒性。</a:t>
            </a:r>
            <a:endParaRPr lang="en-US" sz="1100"/>
          </a:p>
        </p:txBody>
      </p:sp>
      <p:sp>
        <p:nvSpPr>
          <p:cNvPr id="12" name="AutoShape 12"/>
          <p:cNvSpPr/>
          <p:nvPr/>
        </p:nvSpPr>
        <p:spPr>
          <a:xfrm>
            <a:off x="4508500" y="1651000"/>
            <a:ext cx="3619500" cy="2667000"/>
          </a:xfrm>
          <a:prstGeom prst="roundRect">
            <a:avLst>
              <a:gd name="adj" fmla="val 0"/>
            </a:avLst>
          </a:prstGeom>
          <a:solidFill>
            <a:srgbClr val="111827">
              <a:alpha val="8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508500" y="1651000"/>
            <a:ext cx="50800" cy="26670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803400"/>
            <a:ext cx="279400" cy="279400"/>
          </a:xfrm>
          <a:prstGeom prst="rect">
            <a:avLst/>
          </a:prstGeom>
        </p:spPr>
      </p:pic>
      <p:sp>
        <p:nvSpPr>
          <p:cNvPr id="15" name="AutoShape 15"/>
          <p:cNvSpPr/>
          <p:nvPr/>
        </p:nvSpPr>
        <p:spPr>
          <a:xfrm>
            <a:off x="5080000" y="1778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专业测试工具链</a:t>
            </a:r>
            <a:endParaRPr lang="en-US" sz="1100"/>
          </a:p>
        </p:txBody>
      </p:sp>
      <p:sp>
        <p:nvSpPr>
          <p:cNvPr id="16" name="AutoShape 16"/>
          <p:cNvSpPr/>
          <p:nvPr/>
        </p:nvSpPr>
        <p:spPr>
          <a:xfrm>
            <a:off x="4699000" y="2286000"/>
            <a:ext cx="1549400" cy="889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6"/>
          <a:srcRect l="18717" r="18717"/>
          <a:stretch>
            <a:fillRect/>
          </a:stretch>
        </p:blipFill>
        <p:spPr>
          <a:xfrm>
            <a:off x="4762500" y="2362200"/>
            <a:ext cx="1422400" cy="736600"/>
          </a:xfrm>
          <a:prstGeom prst="rect">
            <a:avLst/>
          </a:prstGeom>
          <a:noFill/>
          <a:ln w="25400" cap="flat" cmpd="sng">
            <a:noFill/>
            <a:prstDash val="solid"/>
            <a:round/>
          </a:ln>
        </p:spPr>
      </p:pic>
      <p:sp>
        <p:nvSpPr>
          <p:cNvPr id="18" name="AutoShape 18"/>
          <p:cNvSpPr/>
          <p:nvPr/>
        </p:nvSpPr>
        <p:spPr>
          <a:xfrm>
            <a:off x="6375400" y="2286000"/>
            <a:ext cx="1549400" cy="889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7"/>
          <a:srcRect l="14211" r="14211"/>
          <a:stretch>
            <a:fillRect/>
          </a:stretch>
        </p:blipFill>
        <p:spPr>
          <a:xfrm>
            <a:off x="6438900" y="2362200"/>
            <a:ext cx="1422400" cy="736600"/>
          </a:xfrm>
          <a:prstGeom prst="rect">
            <a:avLst/>
          </a:prstGeom>
          <a:noFill/>
          <a:ln w="25400" cap="flat" cmpd="sng">
            <a:noFill/>
            <a:prstDash val="solid"/>
            <a:round/>
          </a:ln>
        </p:spPr>
      </p:pic>
      <p:sp>
        <p:nvSpPr>
          <p:cNvPr id="20" name="AutoShape 20"/>
          <p:cNvSpPr/>
          <p:nvPr/>
        </p:nvSpPr>
        <p:spPr>
          <a:xfrm>
            <a:off x="4699000" y="3238500"/>
            <a:ext cx="32385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5E7EB"/>
                </a:solidFill>
                <a:latin typeface="Noto Sans SC"/>
                <a:ea typeface="Noto Sans SC"/>
                <a:cs typeface="Noto Sans SC"/>
                <a:sym typeface="Noto Sans SC"/>
              </a:rPr>
              <a:t>采用“浏览器调试+Postman+Flask Debug”组合方案。代码版本基于GitHub管理，后端逻辑通过Flask实时调试，前端渲染与接口调用通过开发者工具深度剖析。</a:t>
            </a:r>
            <a:endParaRPr lang="en-US" sz="1100"/>
          </a:p>
        </p:txBody>
      </p:sp>
      <p:sp>
        <p:nvSpPr>
          <p:cNvPr id="21" name="AutoShape 21"/>
          <p:cNvSpPr/>
          <p:nvPr/>
        </p:nvSpPr>
        <p:spPr>
          <a:xfrm>
            <a:off x="8255000" y="1651000"/>
            <a:ext cx="3619500" cy="2667000"/>
          </a:xfrm>
          <a:prstGeom prst="roundRect">
            <a:avLst>
              <a:gd name="adj" fmla="val 0"/>
            </a:avLst>
          </a:prstGeom>
          <a:solidFill>
            <a:srgbClr val="111827">
              <a:alpha val="82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255000" y="1651000"/>
            <a:ext cx="50800" cy="26670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45500" y="1803400"/>
            <a:ext cx="279400" cy="279400"/>
          </a:xfrm>
          <a:prstGeom prst="rect">
            <a:avLst/>
          </a:prstGeom>
        </p:spPr>
      </p:pic>
      <p:sp>
        <p:nvSpPr>
          <p:cNvPr id="24" name="AutoShape 24"/>
          <p:cNvSpPr/>
          <p:nvPr/>
        </p:nvSpPr>
        <p:spPr>
          <a:xfrm>
            <a:off x="8826500" y="1778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多维验收结论</a:t>
            </a:r>
            <a:endParaRPr lang="en-US" sz="1100"/>
          </a:p>
        </p:txBody>
      </p:sp>
      <p:sp>
        <p:nvSpPr>
          <p:cNvPr id="25" name="AutoShape 25"/>
          <p:cNvSpPr/>
          <p:nvPr/>
        </p:nvSpPr>
        <p:spPr>
          <a:xfrm>
            <a:off x="8445500" y="2349500"/>
            <a:ext cx="1714500" cy="863600"/>
          </a:xfrm>
          <a:prstGeom prst="roundRect">
            <a:avLst>
              <a:gd name="adj" fmla="val 0"/>
            </a:avLst>
          </a:prstGeom>
          <a:solidFill>
            <a:srgbClr val="10B981">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483600" y="2387600"/>
            <a:ext cx="177800" cy="177800"/>
          </a:xfrm>
          <a:prstGeom prst="rect">
            <a:avLst/>
          </a:prstGeom>
        </p:spPr>
      </p:pic>
      <p:sp>
        <p:nvSpPr>
          <p:cNvPr id="27" name="AutoShape 27"/>
          <p:cNvSpPr/>
          <p:nvPr/>
        </p:nvSpPr>
        <p:spPr>
          <a:xfrm>
            <a:off x="8699500" y="2362200"/>
            <a:ext cx="139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a:ea typeface="Noto Sans SC"/>
                <a:cs typeface="Noto Sans SC"/>
                <a:sym typeface="Noto Sans SC"/>
              </a:rPr>
              <a:t>功能完备</a:t>
            </a:r>
            <a:endParaRPr lang="en-US" sz="1100"/>
          </a:p>
        </p:txBody>
      </p:sp>
      <p:sp>
        <p:nvSpPr>
          <p:cNvPr id="28" name="AutoShape 28"/>
          <p:cNvSpPr/>
          <p:nvPr/>
        </p:nvSpPr>
        <p:spPr>
          <a:xfrm>
            <a:off x="8483600" y="2692400"/>
            <a:ext cx="16764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dirty="0">
                <a:solidFill>
                  <a:srgbClr val="BAC4D3"/>
                </a:solidFill>
                <a:latin typeface="Noto Sans SC"/>
                <a:ea typeface="Noto Sans SC"/>
                <a:cs typeface="Noto Sans SC"/>
                <a:sym typeface="Noto Sans SC"/>
              </a:rPr>
              <a:t>核心模块</a:t>
            </a:r>
            <a:r>
              <a:rPr lang="en-US" sz="1100" dirty="0">
                <a:solidFill>
                  <a:srgbClr val="BAC4D3"/>
                </a:solidFill>
                <a:latin typeface="Noto Sans SC"/>
                <a:ea typeface="Noto Sans SC"/>
                <a:cs typeface="Noto Sans SC"/>
                <a:sym typeface="Noto Sans SC"/>
              </a:rPr>
              <a:t>80</a:t>
            </a:r>
            <a:r>
              <a:rPr lang="en-US" sz="1100" b="0" i="0" u="none" strike="noStrike" dirty="0">
                <a:solidFill>
                  <a:srgbClr val="BAC4D3"/>
                </a:solidFill>
                <a:latin typeface="Noto Sans SC"/>
                <a:ea typeface="Noto Sans SC"/>
                <a:cs typeface="Noto Sans SC"/>
                <a:sym typeface="Noto Sans SC"/>
              </a:rPr>
              <a:t>%实现，流程顺畅。</a:t>
            </a:r>
            <a:endParaRPr lang="en-US" sz="1100" dirty="0"/>
          </a:p>
        </p:txBody>
      </p:sp>
      <p:sp>
        <p:nvSpPr>
          <p:cNvPr id="29" name="AutoShape 29"/>
          <p:cNvSpPr/>
          <p:nvPr/>
        </p:nvSpPr>
        <p:spPr>
          <a:xfrm>
            <a:off x="10223500" y="2349500"/>
            <a:ext cx="1714500" cy="863600"/>
          </a:xfrm>
          <a:prstGeom prst="roundRect">
            <a:avLst>
              <a:gd name="adj" fmla="val 0"/>
            </a:avLst>
          </a:prstGeom>
          <a:solidFill>
            <a:srgbClr val="F59E0B">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61600" y="2387600"/>
            <a:ext cx="177800" cy="177800"/>
          </a:xfrm>
          <a:prstGeom prst="rect">
            <a:avLst/>
          </a:prstGeom>
        </p:spPr>
      </p:pic>
      <p:sp>
        <p:nvSpPr>
          <p:cNvPr id="31" name="AutoShape 31"/>
          <p:cNvSpPr/>
          <p:nvPr/>
        </p:nvSpPr>
        <p:spPr>
          <a:xfrm>
            <a:off x="10477500" y="2362200"/>
            <a:ext cx="139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a:ea typeface="Noto Sans SC"/>
                <a:cs typeface="Noto Sans SC"/>
                <a:sym typeface="Noto Sans SC"/>
              </a:rPr>
              <a:t>交互流畅</a:t>
            </a:r>
            <a:endParaRPr lang="en-US" sz="1100"/>
          </a:p>
        </p:txBody>
      </p:sp>
      <p:sp>
        <p:nvSpPr>
          <p:cNvPr id="32" name="AutoShape 32"/>
          <p:cNvSpPr/>
          <p:nvPr/>
        </p:nvSpPr>
        <p:spPr>
          <a:xfrm>
            <a:off x="10261600" y="2692400"/>
            <a:ext cx="16764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BAC4D3"/>
                </a:solidFill>
                <a:latin typeface="Noto Sans SC"/>
                <a:ea typeface="Noto Sans SC"/>
                <a:cs typeface="Noto Sans SC"/>
                <a:sym typeface="Noto Sans SC"/>
              </a:rPr>
              <a:t>响应延迟&lt;500ms，体验优秀。</a:t>
            </a:r>
            <a:endParaRPr lang="en-US" sz="1100"/>
          </a:p>
        </p:txBody>
      </p:sp>
      <p:sp>
        <p:nvSpPr>
          <p:cNvPr id="33" name="AutoShape 33"/>
          <p:cNvSpPr/>
          <p:nvPr/>
        </p:nvSpPr>
        <p:spPr>
          <a:xfrm>
            <a:off x="8445500" y="3276600"/>
            <a:ext cx="1714500" cy="863600"/>
          </a:xfrm>
          <a:prstGeom prst="roundRect">
            <a:avLst>
              <a:gd name="adj" fmla="val 0"/>
            </a:avLst>
          </a:prstGeom>
          <a:solidFill>
            <a:srgbClr val="3B82F6">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34" name="Picture 3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83600" y="3314700"/>
            <a:ext cx="177800" cy="177800"/>
          </a:xfrm>
          <a:prstGeom prst="rect">
            <a:avLst/>
          </a:prstGeom>
        </p:spPr>
      </p:pic>
      <p:sp>
        <p:nvSpPr>
          <p:cNvPr id="35" name="AutoShape 35"/>
          <p:cNvSpPr/>
          <p:nvPr/>
        </p:nvSpPr>
        <p:spPr>
          <a:xfrm>
            <a:off x="8699500" y="3302000"/>
            <a:ext cx="139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a:ea typeface="Noto Sans SC"/>
                <a:cs typeface="Noto Sans SC"/>
                <a:sym typeface="Noto Sans SC"/>
              </a:rPr>
              <a:t>系统高稳</a:t>
            </a:r>
            <a:endParaRPr lang="en-US" sz="1100"/>
          </a:p>
        </p:txBody>
      </p:sp>
      <p:sp>
        <p:nvSpPr>
          <p:cNvPr id="36" name="AutoShape 36"/>
          <p:cNvSpPr/>
          <p:nvPr/>
        </p:nvSpPr>
        <p:spPr>
          <a:xfrm>
            <a:off x="8483600" y="3594100"/>
            <a:ext cx="16764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BAC4D3"/>
                </a:solidFill>
                <a:latin typeface="Noto Sans SC"/>
                <a:ea typeface="Noto Sans SC"/>
                <a:cs typeface="Noto Sans SC"/>
                <a:sym typeface="Noto Sans SC"/>
              </a:rPr>
              <a:t>长时间运行无内存泄漏。</a:t>
            </a:r>
            <a:endParaRPr lang="en-US" sz="1100"/>
          </a:p>
        </p:txBody>
      </p:sp>
      <p:sp>
        <p:nvSpPr>
          <p:cNvPr id="37" name="AutoShape 37"/>
          <p:cNvSpPr/>
          <p:nvPr/>
        </p:nvSpPr>
        <p:spPr>
          <a:xfrm>
            <a:off x="10223500" y="3276600"/>
            <a:ext cx="1714500" cy="863600"/>
          </a:xfrm>
          <a:prstGeom prst="roundRect">
            <a:avLst>
              <a:gd name="adj" fmla="val 0"/>
            </a:avLst>
          </a:prstGeom>
          <a:solidFill>
            <a:srgbClr val="EF4444">
              <a:alpha val="12000"/>
            </a:srgbClr>
          </a:solidFill>
          <a:ln w="25400" cap="flat" cmpd="sng">
            <a:noFill/>
            <a:prstDash val="solid"/>
            <a:round/>
          </a:ln>
        </p:spPr>
        <p:txBody>
          <a:bodyPr vert="horz" wrap="square" lIns="63500" tIns="63500" rIns="63500" bIns="63500" rtlCol="0" anchor="ctr"/>
          <a:lstStyle/>
          <a:p>
            <a:pPr algn="ctr">
              <a:defRPr/>
            </a:pPr>
            <a:endParaRPr/>
          </a:p>
        </p:txBody>
      </p:sp>
      <p:pic>
        <p:nvPicPr>
          <p:cNvPr id="38" name="Picture 3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261600" y="3314700"/>
            <a:ext cx="177800" cy="177800"/>
          </a:xfrm>
          <a:prstGeom prst="rect">
            <a:avLst/>
          </a:prstGeom>
        </p:spPr>
      </p:pic>
      <p:sp>
        <p:nvSpPr>
          <p:cNvPr id="39" name="AutoShape 39"/>
          <p:cNvSpPr/>
          <p:nvPr/>
        </p:nvSpPr>
        <p:spPr>
          <a:xfrm>
            <a:off x="10477500" y="3302000"/>
            <a:ext cx="139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a:ea typeface="Noto Sans SC"/>
                <a:cs typeface="Noto Sans SC"/>
                <a:sym typeface="Noto Sans SC"/>
              </a:rPr>
              <a:t>异常可控</a:t>
            </a:r>
            <a:endParaRPr lang="en-US" sz="1100"/>
          </a:p>
        </p:txBody>
      </p:sp>
      <p:sp>
        <p:nvSpPr>
          <p:cNvPr id="40" name="AutoShape 40"/>
          <p:cNvSpPr/>
          <p:nvPr/>
        </p:nvSpPr>
        <p:spPr>
          <a:xfrm>
            <a:off x="10261600" y="3594100"/>
            <a:ext cx="1676400" cy="482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BAC4D3"/>
                </a:solidFill>
                <a:latin typeface="Noto Sans SC"/>
                <a:ea typeface="Noto Sans SC"/>
                <a:cs typeface="Noto Sans SC"/>
                <a:sym typeface="Noto Sans SC"/>
              </a:rPr>
              <a:t>错误提示精准且友好。</a:t>
            </a:r>
            <a:endParaRPr lang="en-US" sz="1100"/>
          </a:p>
        </p:txBody>
      </p:sp>
      <p:sp>
        <p:nvSpPr>
          <p:cNvPr id="41" name="AutoShape 41"/>
          <p:cNvSpPr/>
          <p:nvPr/>
        </p:nvSpPr>
        <p:spPr>
          <a:xfrm>
            <a:off x="762000" y="4508500"/>
            <a:ext cx="5397500" cy="1905000"/>
          </a:xfrm>
          <a:prstGeom prst="roundRect">
            <a:avLst>
              <a:gd name="adj" fmla="val 0"/>
            </a:avLst>
          </a:prstGeom>
          <a:solidFill>
            <a:srgbClr val="1E293B">
              <a:alpha val="92000"/>
            </a:srgbClr>
          </a:solidFill>
          <a:ln w="12700" cap="flat" cmpd="sng">
            <a:solidFill>
              <a:srgbClr val="4A90E2">
                <a:alpha val="45000"/>
              </a:srgbClr>
            </a:solidFill>
            <a:prstDash val="solid"/>
            <a:round/>
          </a:ln>
        </p:spPr>
        <p:txBody>
          <a:bodyPr vert="horz" wrap="square" lIns="63500" tIns="63500" rIns="63500" bIns="63500" rtlCol="0" anchor="ctr"/>
          <a:lstStyle/>
          <a:p>
            <a:pPr algn="ctr">
              <a:defRPr/>
            </a:pPr>
            <a:endParaRPr/>
          </a:p>
        </p:txBody>
      </p:sp>
      <p:pic>
        <p:nvPicPr>
          <p:cNvPr id="42" name="Picture 4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4673600"/>
            <a:ext cx="304800" cy="304800"/>
          </a:xfrm>
          <a:prstGeom prst="rect">
            <a:avLst/>
          </a:prstGeom>
        </p:spPr>
      </p:pic>
      <p:sp>
        <p:nvSpPr>
          <p:cNvPr id="43" name="AutoShape 43"/>
          <p:cNvSpPr/>
          <p:nvPr/>
        </p:nvSpPr>
        <p:spPr>
          <a:xfrm>
            <a:off x="1397000" y="4673600"/>
            <a:ext cx="444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项目目标圆满达成</a:t>
            </a:r>
            <a:endParaRPr lang="en-US" sz="1100"/>
          </a:p>
        </p:txBody>
      </p:sp>
      <p:sp>
        <p:nvSpPr>
          <p:cNvPr id="44" name="AutoShape 44"/>
          <p:cNvSpPr/>
          <p:nvPr/>
        </p:nvSpPr>
        <p:spPr>
          <a:xfrm>
            <a:off x="952500" y="5207000"/>
            <a:ext cx="50165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D1D5DB"/>
                </a:solidFill>
                <a:latin typeface="Noto Sans SC"/>
                <a:ea typeface="Noto Sans SC"/>
                <a:cs typeface="Noto Sans SC"/>
                <a:sym typeface="Noto Sans SC"/>
              </a:rPr>
              <a:t>系统通过全维度测试，功能与性能指标均满足课程设计的严格标准。从用户输入到结果输出的全业务链路验证通过，成功完成了从需求分析到系统落地的完整闭环，充分证明了技术方案的可行性与有效性。</a:t>
            </a:r>
            <a:endParaRPr lang="en-US" sz="1100"/>
          </a:p>
        </p:txBody>
      </p:sp>
      <p:cxnSp>
        <p:nvCxnSpPr>
          <p:cNvPr id="45" name="Connector 45"/>
          <p:cNvCxnSpPr/>
          <p:nvPr/>
        </p:nvCxnSpPr>
        <p:spPr>
          <a:xfrm rot="5377082">
            <a:off x="5397500" y="5454671"/>
            <a:ext cx="1905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46" name="AutoShape 46"/>
          <p:cNvSpPr/>
          <p:nvPr/>
        </p:nvSpPr>
        <p:spPr>
          <a:xfrm>
            <a:off x="6540500" y="4508500"/>
            <a:ext cx="5397500" cy="1905000"/>
          </a:xfrm>
          <a:prstGeom prst="roundRect">
            <a:avLst>
              <a:gd name="adj" fmla="val 0"/>
            </a:avLst>
          </a:prstGeom>
          <a:solidFill>
            <a:srgbClr val="1E293B">
              <a:alpha val="92000"/>
            </a:srgbClr>
          </a:solidFill>
          <a:ln w="12700" cap="flat" cmpd="sng">
            <a:solidFill>
              <a:srgbClr val="4A90E2">
                <a:alpha val="45000"/>
              </a:srgbClr>
            </a:solidFill>
            <a:prstDash val="solid"/>
            <a:round/>
          </a:ln>
        </p:spPr>
        <p:txBody>
          <a:bodyPr vert="horz" wrap="square" lIns="63500" tIns="63500" rIns="63500" bIns="63500" rtlCol="0" anchor="ctr"/>
          <a:lstStyle/>
          <a:p>
            <a:pPr algn="ctr">
              <a:defRPr/>
            </a:pPr>
            <a:endParaRPr/>
          </a:p>
        </p:txBody>
      </p:sp>
      <p:pic>
        <p:nvPicPr>
          <p:cNvPr id="47" name="Picture 4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31000" y="4673600"/>
            <a:ext cx="304800" cy="304800"/>
          </a:xfrm>
          <a:prstGeom prst="rect">
            <a:avLst/>
          </a:prstGeom>
        </p:spPr>
      </p:pic>
      <p:sp>
        <p:nvSpPr>
          <p:cNvPr id="48" name="AutoShape 48"/>
          <p:cNvSpPr/>
          <p:nvPr/>
        </p:nvSpPr>
        <p:spPr>
          <a:xfrm>
            <a:off x="7175500" y="4673600"/>
            <a:ext cx="444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架构具备强扩展性</a:t>
            </a:r>
            <a:endParaRPr lang="en-US" sz="1100"/>
          </a:p>
        </p:txBody>
      </p:sp>
      <p:sp>
        <p:nvSpPr>
          <p:cNvPr id="49" name="AutoShape 49"/>
          <p:cNvSpPr/>
          <p:nvPr/>
        </p:nvSpPr>
        <p:spPr>
          <a:xfrm>
            <a:off x="6731000" y="5207000"/>
            <a:ext cx="50165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D1D5DB"/>
                </a:solidFill>
                <a:latin typeface="Noto Sans SC"/>
                <a:ea typeface="Noto Sans SC"/>
                <a:cs typeface="Noto Sans SC"/>
                <a:sym typeface="Noto Sans SC"/>
              </a:rPr>
              <a:t>采用的前后端分离与模块化设计，为未来功能迭代提供了良好基础。可无缝接入更复杂的AI模型、移动端适配及用户个性化配置功能。同时，清晰的代码结构与完善的测试用例，也为后续系统维护与二次开发降低了成本。</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A1932">
                  <a:alpha val="60000"/>
                </a:srgbClr>
              </a:gs>
              <a:gs pos="100000">
                <a:srgbClr val="050F23">
                  <a:alpha val="85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286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感谢聆听</a:t>
            </a:r>
            <a:endParaRPr lang="en-US" sz="1100"/>
          </a:p>
        </p:txBody>
      </p:sp>
      <p:sp>
        <p:nvSpPr>
          <p:cNvPr id="4" name="AutoShape 4"/>
          <p:cNvSpPr/>
          <p:nvPr/>
        </p:nvSpPr>
        <p:spPr>
          <a:xfrm>
            <a:off x="0" y="3683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FFFFFF"/>
                </a:solidFill>
                <a:latin typeface="Noto Sans SC"/>
                <a:ea typeface="Noto Sans SC"/>
                <a:cs typeface="Noto Sans SC"/>
                <a:sym typeface="Noto Sans SC"/>
              </a:rPr>
              <a:t>AI课程助手系统</a:t>
            </a:r>
            <a:endParaRPr lang="en-US" sz="1100"/>
          </a:p>
        </p:txBody>
      </p:sp>
      <p:sp>
        <p:nvSpPr>
          <p:cNvPr id="5" name="AutoShape 5"/>
          <p:cNvSpPr/>
          <p:nvPr/>
        </p:nvSpPr>
        <p:spPr>
          <a:xfrm>
            <a:off x="0" y="4445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spc="200">
                <a:solidFill>
                  <a:srgbClr val="C4DFFF">
                    <a:alpha val="94902"/>
                  </a:srgbClr>
                </a:solidFill>
                <a:latin typeface="Noto Sans SC"/>
                <a:ea typeface="Noto Sans SC"/>
                <a:cs typeface="Noto Sans SC"/>
                <a:sym typeface="Noto Sans SC"/>
              </a:rPr>
              <a:t>Learning Engine</a:t>
            </a:r>
            <a:endParaRPr lang="en-US" sz="1100"/>
          </a:p>
        </p:txBody>
      </p:sp>
      <p:sp>
        <p:nvSpPr>
          <p:cNvPr id="6" name="AutoShape 6"/>
          <p:cNvSpPr/>
          <p:nvPr/>
        </p:nvSpPr>
        <p:spPr>
          <a:xfrm>
            <a:off x="3556000" y="5461000"/>
            <a:ext cx="5080000" cy="635000"/>
          </a:xfrm>
          <a:prstGeom prst="roundRect">
            <a:avLst>
              <a:gd name="adj" fmla="val 0"/>
            </a:avLst>
          </a:prstGeom>
          <a:solidFill>
            <a:srgbClr val="4A90E2">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3556000" y="5461000"/>
            <a:ext cx="508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欢迎各位老师提问</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1102</Words>
  <Application>Microsoft Office PowerPoint</Application>
  <PresentationFormat>宽屏</PresentationFormat>
  <Paragraphs>209</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15</vt:i4>
      </vt:variant>
    </vt:vector>
  </HeadingPairs>
  <TitlesOfParts>
    <vt:vector size="19"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郑mechanic</dc:creator>
  <cp:lastModifiedBy>mechanic 郑</cp:lastModifiedBy>
  <cp:revision>2</cp:revision>
  <dcterms:modified xsi:type="dcterms:W3CDTF">2026-05-23T05:04:53Z</dcterms:modified>
</cp:coreProperties>
</file>