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8" r:id="rId8"/>
    <p:sldId id="261" r:id="rId9"/>
    <p:sldId id="263" r:id="rId10"/>
    <p:sldId id="265" r:id="rId11"/>
    <p:sldId id="267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1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团队“学习引擎”将向大家展示我们的项目——AI课程助手。这是一个我们为未来学习打造的智能系统，旨在利用AI技术，解决当前学习中的痛点，让学习变得更高效、更个性化。接下来，我将详细介绍我们的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谈谈为什么要做这个项目。我们发现，无论是在深夜为一道难题苦恼，还是对抽象的知识点感到困惑，亦或是被繁琐的报告作业所累，这些都是学生们普遍面临的痛点。我们拥有海量的学习资源，但真正缺少的，是一个能够随时解答疑问、提供个性化指导的“导师”。这正是我们开发AI课程助手的初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这些痛点，我们确立了项目的核心目标。我们希望构建一个全天候的智能学习助手，提供跨学科的教学支持，并通过结构化的知识输出和即时反馈，最终实现一个目标：让每个学生都能拥有一位随时在线的AI老师，陪伴他们的学习旅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简单介绍一下系统的整体架构。我们采用了前后端分离的现代化架构，确保了系统的灵活性和可维护性。系统的核心动力来自于强大的大模型API，这让我们的助手具备了深度理解和智能交互的能力。同时，我们特别优化了系统对多学科知识的支持，确保提供的内容专业且精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核心功能主要分为三大模块。首先是多学科支持，目前我们已经覆盖了计算机、化学等多个领域，并且还在不断扩展学科范围。其次是学习与练习模式，系统不仅能像老师一样讲解知识，帮助大家建立知识体系，还能根据知识点自动出题帮助巩固。最后是辅助工具，包括强大的编程代码解释和Bug排查功能，以及高效的报告生成功能，旨在全面提升大家的学习效率和作业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C3840-83D7-22A7-7B0B-895D54C6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F0AE13-C114-C1A0-165E-ED5532B787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2DACE7-D324-9179-8DB7-D8D1AE27AD8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5C686FA-CCCD-93E2-9D8F-B51409B551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76154C6-0EF4-C43A-8315-61813199F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核心功能主要分为三大模块。首先是多学科支持，目前我们已经覆盖了计算机、化学等多个领域，并且还在不断扩展学科范围。其次是学习与练习模式，系统不仅能像老师一样讲解知识，帮助大家建立知识体系，还能根据知识点自动出题帮助巩固。最后是辅助工具，包括强大的编程代码解释和Bug排查功能，以及高效的报告生成功能，旨在全面提升大家的学习效率和作业质量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0CDB9-5F70-9167-C392-B60354864D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60C2C-8480-2D49-C745-9C876F833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17257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最大的创新点在于，我们追求的不仅仅是回答问题，而是真正地“教会”用户。通过精细的Prompt工程，我们让AI扮演一个优秀的老师。它输出的内容结构清晰，并且会通过引导和提问来启发思考。这正是我们的核心优势：不仅授人以鱼，更授人以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有清晰的功能迭代路线。短期内，我们将完善学习记录保存和用户系统等基础功能，保障核心体验。中期，我们会重点升级效率工具，如支持多种格式的报告一键导出和可视化的学习进度跟踪，提升学习效率。长期来看，我们的目标是实现基于用户画像的基础个性化学习推荐，让系统更懂每一位用户，提供更具针对性的成长指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我们团队“学习引擎”的愿景，是利用AI赋能教育。我们希望通过技术提升学习效率，降低优质教育的门槛，最终推动整个智能教育的发展。我们的核心使命非常简单，就是：让学习更高效，让知识更易获得。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总结来说，我们所做的，不仅仅是开发一个AI课程助手系统，我们更希望通过这个项目，去探索一种更高效、更智能、更个性化的学习方式。我们相信，这是未来教育的方向。我的汇报到此结束，谢谢大家！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jpe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2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1270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AI课程助手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30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面向未来的智能学习系统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57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团队：学习引擎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5403702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74151"/>
                </a:solidFill>
                <a:latin typeface="Noto Sans SC"/>
                <a:ea typeface="Noto Sans SC"/>
              </a:rPr>
              <a:t>成员：郑瑞元</a:t>
            </a:r>
            <a:endParaRPr lang="en-US" sz="1600" b="1" dirty="0">
              <a:solidFill>
                <a:srgbClr val="374151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为什么要做AI课程助手？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6650" r="16649"/>
          <a:stretch>
            <a:fillRect/>
          </a:stretch>
        </p:blipFill>
        <p:spPr>
          <a:xfrm>
            <a:off x="762000" y="1778000"/>
            <a:ext cx="4318000" cy="4318000"/>
          </a:xfrm>
          <a:prstGeom prst="roundRect">
            <a:avLst>
              <a:gd name="adj" fmla="val 470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461000" y="1651000"/>
            <a:ext cx="596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我们都曾经历过这样的时刻：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2413000"/>
            <a:ext cx="28575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3400" y="2641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096000" y="25654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深夜苦战，难题无解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面对复杂的编程题或晦涩的化学方程式，找不到清晰的解答思路。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509000" y="2413000"/>
            <a:ext cx="28575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1400" y="26416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144000" y="25654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知识抽象，理解困难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课堂上似乎听懂了，但课后自己梳理时却一团乱麻，无法内化。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461000" y="3810000"/>
            <a:ext cx="28575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3400" y="4038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096000" y="39624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报告作业，耗时耗力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完成一份格式规范的报告，需要花费数小时进行资料整理和排版。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509000" y="3810000"/>
            <a:ext cx="28575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61400" y="40386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144000" y="39624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千人一面，指导缺失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渴望得到属于自己的、针对性的个性化学习指导，而非标准化答案。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461000" y="5143500"/>
            <a:ext cx="59055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1500" y="53594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223000" y="5270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资源泛滥，效率低下：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筛选和整合网络上的海量信息本身就需要巨大的时间成本，让学习效率大打折扣。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476500" cy="292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5600" y="1968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952500" y="28575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构建智能学习助手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683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打破时空限制，让学习者随时获得即时帮助。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1651000"/>
            <a:ext cx="2476500" cy="292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6100" y="1968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683000" y="28575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提供跨学科教学支持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83000" y="3683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覆盖计算机、化学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政治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学科领域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2476500" cy="292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86600" y="1968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413500" y="28575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实现结构化知识输出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3500" y="3683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帮助用户构建清晰、系统的知识体系。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953500" y="1651000"/>
            <a:ext cx="2476500" cy="292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17100" y="19685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0" y="28575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提供即时精准反馈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0" y="3683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引导用户自主发现问题、解决问题。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14545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5270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让每个学生拥有一个「随时在线的AI老师」。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系统整体介绍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171700"/>
            <a:ext cx="711200" cy="711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968500"/>
            <a:ext cx="368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前后端分离架构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现代化设计，前端负责流畅交互，后端处理复杂逻辑，保证系统高可扩展性和维护性。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171700"/>
            <a:ext cx="711200" cy="711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493000" y="1968500"/>
            <a:ext cx="368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基于大模型API驱动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系统的“大脑”是KIMI大语言模型,赋予系统强大的自然语言理解和逻辑推理能力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711700"/>
            <a:ext cx="711200" cy="711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032000" y="4508500"/>
            <a:ext cx="368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实现自然流畅的智能交互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用户可通过日常对话与系统交互，系统能理解上下文，提供连贯、智能的回应，体验感更自然。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4711700"/>
            <a:ext cx="711200" cy="711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93000" y="4508500"/>
            <a:ext cx="368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原生支持多学科知识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系统经过精心设计，能理解并处理不同学科的专业术语和知识体系，为教学和学习提供精准辅助。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6650" r="16649"/>
          <a:stretch>
            <a:fillRect/>
          </a:stretch>
        </p:blipFill>
        <p:spPr>
          <a:xfrm>
            <a:off x="952500" y="2032000"/>
            <a:ext cx="1397000" cy="1397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 l="21805" r="21805"/>
          <a:stretch>
            <a:fillRect/>
          </a:stretch>
        </p:blipFill>
        <p:spPr>
          <a:xfrm>
            <a:off x="2476500" y="2032000"/>
            <a:ext cx="1397000" cy="1397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952500" y="3683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多学科支持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952500" y="444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深度支持计算机科学（编程、算法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化学（方程式、原理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思想政治（概念、原理）学科，且学科库仍在持续更新与扩展中，以覆盖更多学习需求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0" y="2159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461000" y="2159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学习与练习模式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302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📚 结构化学习模式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提供逻辑清晰、层次分明的知识讲解，帮助用户快速建立学科知识体系，夯实理论基础。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📝 智能出题模式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基于用户当前掌握的知识点和难度偏好，自动生成适配的练习题，并附带详细解析，实现“学练结合”。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159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144000" y="2159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辅助与效率工具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302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💻 专业代码模式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提供代码逻辑解释、实时Bug排查与修复建议，解决编程学习中遇到的各类疑难问题。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📄 一键报告生成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根据实验数据或课题内容，快速生成结构完整、格式规范的实验报告或学术论文初稿，显著提升作业效率。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ACB2E-C1F5-1A30-047E-68ED104EC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175A469-18EE-BCD6-FA91-9BF3E9011E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B6C8BB3-ADF3-7A81-7BDD-1507CDB4BE5F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系统能力与技术特点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03CD76B-BC80-B804-3C8A-B17322480AA4}"/>
              </a:ext>
            </a:extLst>
          </p:cNvPr>
          <p:cNvSpPr/>
          <p:nvPr/>
        </p:nvSpPr>
        <p:spPr>
          <a:xfrm>
            <a:off x="735567" y="1778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21533B31-D61C-79C3-F659-D3AFEF236FC0}"/>
              </a:ext>
            </a:extLst>
          </p:cNvPr>
          <p:cNvSpPr/>
          <p:nvPr/>
        </p:nvSpPr>
        <p:spPr>
          <a:xfrm>
            <a:off x="941867" y="2204483"/>
            <a:ext cx="2921000" cy="30480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本系统基于前后端分离架构，结合大模型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API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构建，具备良好的扩展性与稳定性。在设计过程中，我们不仅关注功能实现，也重点考虑系统的实际使用体验与工程可行性。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8572D78E-C7A5-974A-B4FA-6431E6DDC14D}"/>
              </a:ext>
            </a:extLst>
          </p:cNvPr>
          <p:cNvSpPr/>
          <p:nvPr/>
        </p:nvSpPr>
        <p:spPr>
          <a:xfrm>
            <a:off x="4532350" y="1778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2D9B7D66-E243-AA08-EE6C-F998B87D560E}"/>
              </a:ext>
            </a:extLst>
          </p:cNvPr>
          <p:cNvSpPr/>
          <p:nvPr/>
        </p:nvSpPr>
        <p:spPr>
          <a:xfrm>
            <a:off x="4699000" y="2204483"/>
            <a:ext cx="2794000" cy="30480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20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在前端方面，系统采用轻量化设计，实现了快速响应与结构化展示。通过对</a:t>
            </a:r>
            <a:r>
              <a:rPr lang="en-US" altLang="zh-CN" sz="20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AI</a:t>
            </a:r>
            <a:r>
              <a:rPr lang="zh-CN" altLang="en-US" sz="20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输出内容进行解析，能够将原本的文本信息转化为清晰的知识模块，提高用户阅读效率。</a:t>
            </a:r>
            <a:endParaRPr lang="en-US" sz="2000" dirty="0">
              <a:solidFill>
                <a:srgbClr val="374151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87652110-9DB1-1367-DBFC-775F1CCD4CA5}"/>
              </a:ext>
            </a:extLst>
          </p:cNvPr>
          <p:cNvSpPr/>
          <p:nvPr/>
        </p:nvSpPr>
        <p:spPr>
          <a:xfrm>
            <a:off x="8381999" y="1778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04E0E19E-C3AD-1393-9E02-45C3C736F675}"/>
              </a:ext>
            </a:extLst>
          </p:cNvPr>
          <p:cNvSpPr/>
          <p:nvPr/>
        </p:nvSpPr>
        <p:spPr>
          <a:xfrm>
            <a:off x="8381999" y="2743199"/>
            <a:ext cx="3150781" cy="28424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20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在后端方面，系统通过</a:t>
            </a:r>
            <a:r>
              <a:rPr lang="en-US" altLang="zh-CN" sz="20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Flask</a:t>
            </a:r>
            <a:r>
              <a:rPr lang="zh-CN" altLang="en-US" sz="20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框架构建服务接口，并结合</a:t>
            </a:r>
            <a:r>
              <a:rPr lang="en-US" altLang="zh-CN" sz="20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Prompt</a:t>
            </a:r>
            <a:r>
              <a:rPr lang="zh-CN" altLang="en-US" sz="20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工程动态控制</a:t>
            </a:r>
            <a:r>
              <a:rPr lang="en-US" altLang="zh-CN" sz="20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AI</a:t>
            </a:r>
            <a:r>
              <a:rPr lang="zh-CN" altLang="en-US" sz="20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行为，使其在不同学科与模式下输出具有针对性的内容。同时，为保证系统稳定运行，我们在</a:t>
            </a:r>
            <a:r>
              <a:rPr lang="en-US" altLang="zh-CN" sz="20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API</a:t>
            </a:r>
            <a:r>
              <a:rPr lang="zh-CN" altLang="en-US" sz="20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调用层加入了超时控制、异常处理与重试机制，使系统在多次请求或网络波动情况下仍能保持稳定。</a:t>
            </a:r>
            <a:endParaRPr lang="en-US" sz="2000" dirty="0">
              <a:solidFill>
                <a:srgbClr val="374151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8221827-9ECB-69B1-3304-40153C78E548}"/>
              </a:ext>
            </a:extLst>
          </p:cNvPr>
          <p:cNvSpPr txBox="1"/>
          <p:nvPr/>
        </p:nvSpPr>
        <p:spPr>
          <a:xfrm>
            <a:off x="735567" y="1240064"/>
            <a:ext cx="10100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0B981"/>
                </a:solidFill>
                <a:latin typeface="Noto Sans SC"/>
                <a:ea typeface="Noto Sans SC"/>
              </a:rPr>
              <a:t>系统不仅实现了功能闭环，还具备基础工程稳定性与可扩展能力</a:t>
            </a:r>
          </a:p>
        </p:txBody>
      </p:sp>
    </p:spTree>
    <p:extLst>
      <p:ext uri="{BB962C8B-B14F-4D97-AF65-F5344CB8AC3E}">
        <p14:creationId xmlns:p14="http://schemas.microsoft.com/office/powerpoint/2010/main" val="1590276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系统创新点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我们不仅仅是技术的搬运工，更是学习方法的创新者。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540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2362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336800"/>
            <a:ext cx="177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精细的 Prompt 工程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精确引导 AI 扮演“老师”角色，确保回答准确、通俗且具启发性。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556000" y="2159000"/>
            <a:ext cx="2540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9200" y="23622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91000" y="2336800"/>
            <a:ext cx="177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结构化输出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采用【标题】分块格式，让知识层次和逻辑清晰可见，便于理解和记忆。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2540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200" y="42672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241800"/>
            <a:ext cx="177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真正的教学型回答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通过提问、引导、分步讲解，模拟优秀教师的教学过程，启发独立思考。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556000" y="4064000"/>
            <a:ext cx="2540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9200" y="42672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191000" y="4241800"/>
            <a:ext cx="177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多模式智能交互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系统能根据用户输入，智能判断并切换到最合适的交互模式，提供无缝体验。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5842000"/>
            <a:ext cx="5334000" cy="762000"/>
          </a:xfrm>
          <a:prstGeom prst="roundRect">
            <a:avLst>
              <a:gd name="adj" fmla="val 16666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5943600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“我们的系统，不仅能回答问题，更能「教会你」。”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rcRect l="5358" r="5358"/>
          <a:stretch>
            <a:fillRect/>
          </a:stretch>
        </p:blipFill>
        <p:spPr>
          <a:xfrm>
            <a:off x="6604000" y="2159000"/>
            <a:ext cx="4826000" cy="3048000"/>
          </a:xfrm>
          <a:prstGeom prst="roundRect">
            <a:avLst>
              <a:gd name="adj" fmla="val 5000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0" name="AutoShape 20"/>
          <p:cNvSpPr/>
          <p:nvPr/>
        </p:nvSpPr>
        <p:spPr>
          <a:xfrm>
            <a:off x="6604000" y="5461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1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“授人以鱼不如授人以渔”</a:t>
            </a:r>
            <a:br>
              <a:rPr lang="en-US" sz="1300" b="0" i="1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1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以技术驱动教育，重塑学习体验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未来功能拓展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413000"/>
            <a:ext cx="558800" cy="558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828800" y="23622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/ 近期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基础功能完善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3556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学习记录保存：完整保留历史对话与互动记录，随时回顾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413000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511800" y="23622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/ 中期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效率工具升级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99000" y="3556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报告一键导出：支持将学习总结、分析结果等一键导出为Word或PDF格式，便于存档分享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2413000"/>
            <a:ext cx="558800" cy="558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194800" y="23622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/ 远期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个性化服务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382000" y="3556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基础学习推荐：基于用户的学习习惯、历史记录与能力模型，提供定制化的学习路径与内容推荐，实现“千人千面”的个性化体验。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团队愿景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学习引擎 (Learning Engine)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0B981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476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“ 让学习更高效，让知识更易获得 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937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254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841500" y="4064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AI赋能教育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将前沿AI技术与教育场景深度融合，创造前所未有的沉浸式学习体验。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3937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254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02500" y="4064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提升学习效率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帮助学习者从重复、繁琐的环节中彻底解放，聚焦于知识的深层理解与创造性应用。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651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841500" y="5461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降低学习门槛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打破资源与地域壁垒，让全球范围内的优质教育资源和个性化指导通过技术变得人人可得。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5334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56515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02500" y="5461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推动智能教育发展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我们不仅是产品的开发者，更是积极的参与者，共同推动一场深刻且广泛的教育变革。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397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我们不仅是在做一个系统，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而是在探索一种更高效的学习方式。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Microsoft Office PowerPoint</Application>
  <PresentationFormat>宽屏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郑mechanic</dc:creator>
  <cp:lastModifiedBy>mechanic 郑</cp:lastModifiedBy>
  <cp:revision>1</cp:revision>
  <dcterms:modified xsi:type="dcterms:W3CDTF">2026-04-27T10:36:39Z</dcterms:modified>
</cp:coreProperties>
</file>